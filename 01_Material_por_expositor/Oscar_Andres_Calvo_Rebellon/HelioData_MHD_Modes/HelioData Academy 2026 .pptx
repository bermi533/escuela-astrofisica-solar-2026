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10287000" cx="18288000"/>
  <p:notesSz cx="6858000" cy="9144000"/>
  <p:embeddedFontLst>
    <p:embeddedFont>
      <p:font typeface="Geo"/>
      <p:regular r:id="rId49"/>
      <p:italic r:id="rId50"/>
    </p:embeddedFont>
    <p:embeddedFont>
      <p:font typeface="Arimo"/>
      <p:bold r:id="rId51"/>
      <p:boldItalic r:id="rId52"/>
    </p:embeddedFont>
    <p:embeddedFont>
      <p:font typeface="Helvetica Neue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7" roundtripDataSignature="AMtx7mhT4mrbtdvIp66YnolJ84ewkBSv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font" Target="fonts/Ge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Arimo-bold.fntdata"/><Relationship Id="rId50" Type="http://schemas.openxmlformats.org/officeDocument/2006/relationships/font" Target="fonts/Geo-italic.fntdata"/><Relationship Id="rId53" Type="http://schemas.openxmlformats.org/officeDocument/2006/relationships/font" Target="fonts/HelveticaNeue-regular.fntdata"/><Relationship Id="rId52" Type="http://schemas.openxmlformats.org/officeDocument/2006/relationships/font" Target="fonts/Arimo-boldItalic.fntdata"/><Relationship Id="rId11" Type="http://schemas.openxmlformats.org/officeDocument/2006/relationships/slide" Target="slides/slide6.xml"/><Relationship Id="rId55" Type="http://schemas.openxmlformats.org/officeDocument/2006/relationships/font" Target="fonts/HelveticaNeue-italic.fntdata"/><Relationship Id="rId10" Type="http://schemas.openxmlformats.org/officeDocument/2006/relationships/slide" Target="slides/slide5.xml"/><Relationship Id="rId54" Type="http://schemas.openxmlformats.org/officeDocument/2006/relationships/font" Target="fonts/HelveticaNeue-bold.fntdata"/><Relationship Id="rId13" Type="http://schemas.openxmlformats.org/officeDocument/2006/relationships/slide" Target="slides/slide8.xml"/><Relationship Id="rId57" Type="http://customschemas.google.com/relationships/presentationmetadata" Target="metadata"/><Relationship Id="rId12" Type="http://schemas.openxmlformats.org/officeDocument/2006/relationships/slide" Target="slides/slide7.xml"/><Relationship Id="rId56" Type="http://schemas.openxmlformats.org/officeDocument/2006/relationships/font" Target="fonts/HelveticaNeue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161039d3f87a9e89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h161039d3f87a9e89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161039d3f87a9e89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h161039d3f87a9e8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161039d3f87a9e89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h161039d3f87a9e8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7605234e4dc15daa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h7605234e4dc15da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161039d3f87a9e89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h161039d3f87a9e8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161039d3f87a9e89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h161039d3f87a9e89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161039d3f87a9e89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h161039d3f87a9e8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7605234e4dc15daa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h7605234e4dc15da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7605234e4dc15daa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h7605234e4dc15da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161039d3f87a9e89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h161039d3f87a9e8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h7605234e4dc15da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h7605234e4dc15daa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h2ce3fe4848cf32bc_0_2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h2ce3fe4848cf32bc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h31e873f2949e4b7d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h31e873f2949e4b7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h31e873f2949e4b7d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h31e873f2949e4b7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h31e873f2949e4b7d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h31e873f2949e4b7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h31e873f2949e4b7d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h31e873f2949e4b7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h2ce3fe4848cf32bc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h2ce3fe4848cf32b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h2ce3fe4848cf32bc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h2ce3fe4848cf32bc_0_2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h2ce3fe4848cf32bc_0_2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h2ce3fe4848cf32bc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h2ce3fe4848cf32bc_0_2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h2ce3fe4848cf32bc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h2ce3fe4848cf32bc_0_2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h2ce3fe4848cf32bc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h2ce3fe4848cf32bc_0_2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h2ce3fe4848cf32bc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h2ce3fe4848cf32bc_0_1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h2ce3fe4848cf32bc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h2ce3fe4848cf32bc_0_3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h2ce3fe4848cf32bc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h7605234e4dc15da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h7605234e4dc15d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h2ce3fe4848cf32bc_0_3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h2ce3fe4848cf32bc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h2ce3fe4848cf32bc_0_3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h2ce3fe4848cf32bc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h625cd870844adfa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h625cd870844adf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h161039d3f87a9e89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h161039d3f87a9e8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h161039d3f87a9e89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h161039d3f87a9e8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h161039d3f87a9e89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h161039d3f87a9e8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h161039d3f87a9e89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h161039d3f87a9e8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h161039d3f87a9e89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h161039d3f87a9e8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h161039d3f87a9e89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h161039d3f87a9e8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h161039d3f87a9e89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h161039d3f87a9e8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h161039d3f87a9e89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h161039d3f87a9e8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h161039d3f87a9e89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h161039d3f87a9e8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h161039d3f87a9e89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h161039d3f87a9e8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5.png"/><Relationship Id="rId5" Type="http://schemas.openxmlformats.org/officeDocument/2006/relationships/image" Target="../media/image35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8.jp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4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0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3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gif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gif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30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gif"/><Relationship Id="rId4" Type="http://schemas.openxmlformats.org/officeDocument/2006/relationships/image" Target="../media/image15.gif"/><Relationship Id="rId5" Type="http://schemas.openxmlformats.org/officeDocument/2006/relationships/image" Target="../media/image19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4.gif"/><Relationship Id="rId4" Type="http://schemas.openxmlformats.org/officeDocument/2006/relationships/image" Target="../media/image22.png"/><Relationship Id="rId5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image" Target="../media/image21.png"/><Relationship Id="rId5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Relationship Id="rId4" Type="http://schemas.openxmlformats.org/officeDocument/2006/relationships/image" Target="../media/image32.png"/><Relationship Id="rId5" Type="http://schemas.openxmlformats.org/officeDocument/2006/relationships/image" Target="../media/image31.png"/><Relationship Id="rId6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8.png"/><Relationship Id="rId4" Type="http://schemas.openxmlformats.org/officeDocument/2006/relationships/image" Target="../media/image4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jpg"/><Relationship Id="rId4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8.png"/><Relationship Id="rId4" Type="http://schemas.openxmlformats.org/officeDocument/2006/relationships/image" Target="../media/image4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1.gif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3.gif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0.gif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2.gif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4.png"/><Relationship Id="rId4" Type="http://schemas.openxmlformats.org/officeDocument/2006/relationships/image" Target="../media/image4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png"/><Relationship Id="rId4" Type="http://schemas.openxmlformats.org/officeDocument/2006/relationships/image" Target="../media/image4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.jpg"/><Relationship Id="rId4" Type="http://schemas.openxmlformats.org/officeDocument/2006/relationships/image" Target="../media/image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9.png"/><Relationship Id="rId4" Type="http://schemas.openxmlformats.org/officeDocument/2006/relationships/image" Target="../media/image42.png"/><Relationship Id="rId5" Type="http://schemas.openxmlformats.org/officeDocument/2006/relationships/image" Target="../media/image8.jp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D3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-12700"/>
            <a:ext cx="11201400" cy="10299700"/>
          </a:xfrm>
          <a:custGeom>
            <a:rect b="b" l="l" r="r" t="t"/>
            <a:pathLst>
              <a:path extrusionOk="0" h="885799" w="963348">
                <a:moveTo>
                  <a:pt x="0" y="0"/>
                </a:moveTo>
                <a:lnTo>
                  <a:pt x="963348" y="0"/>
                </a:lnTo>
                <a:lnTo>
                  <a:pt x="963348" y="885799"/>
                </a:lnTo>
                <a:lnTo>
                  <a:pt x="0" y="885799"/>
                </a:lnTo>
                <a:close/>
              </a:path>
            </a:pathLst>
          </a:custGeom>
          <a:solidFill>
            <a:srgbClr val="071D30"/>
          </a:solid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857250" y="7400925"/>
            <a:ext cx="9525000" cy="7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Óscar Andrés Calvo Rebellón</a:t>
            </a:r>
            <a:r>
              <a:rPr b="0" i="0" lang="en-US" sz="2250" u="none" cap="none" strike="noStrike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·  </a:t>
            </a:r>
            <a:r>
              <a:rPr lang="en-US" sz="225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Observatorio astronómico nacional</a:t>
            </a:r>
            <a:r>
              <a:rPr b="0" i="0" lang="en-US" sz="2250" u="none" cap="none" strike="noStrike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·  </a:t>
            </a:r>
            <a:r>
              <a:rPr lang="en-US" sz="225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15/oct/2026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857250" y="1809750"/>
            <a:ext cx="975449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0" u="none" cap="none" strike="noStrike">
                <a:solidFill>
                  <a:srgbClr val="F5B82E"/>
                </a:solidFill>
                <a:latin typeface="Geo"/>
                <a:ea typeface="Geo"/>
                <a:cs typeface="Geo"/>
                <a:sym typeface="Geo"/>
              </a:rPr>
              <a:t>HelioData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0" u="none" cap="none" strike="noStrike">
                <a:solidFill>
                  <a:srgbClr val="F5B82E"/>
                </a:solidFill>
                <a:latin typeface="Geo"/>
                <a:ea typeface="Geo"/>
                <a:cs typeface="Geo"/>
                <a:sym typeface="Geo"/>
              </a:rPr>
              <a:t>Academy 2026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876300" y="847725"/>
            <a:ext cx="95250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5B82E"/>
                </a:solidFill>
                <a:latin typeface="Arimo"/>
                <a:ea typeface="Arimo"/>
                <a:cs typeface="Arimo"/>
                <a:sym typeface="Arimo"/>
              </a:rPr>
              <a:t>ESCUELA DE ASTROFÍSICA SOLAR  ·  OCTUBRE 2026</a:t>
            </a:r>
            <a:endParaRPr/>
          </a:p>
        </p:txBody>
      </p:sp>
      <p:grpSp>
        <p:nvGrpSpPr>
          <p:cNvPr id="88" name="Google Shape;88;p1"/>
          <p:cNvGrpSpPr/>
          <p:nvPr/>
        </p:nvGrpSpPr>
        <p:grpSpPr>
          <a:xfrm>
            <a:off x="876300" y="4638675"/>
            <a:ext cx="1428750" cy="85725"/>
            <a:chOff x="0" y="-38100"/>
            <a:chExt cx="1905000" cy="114300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1905000" cy="76200"/>
            </a:xfrm>
            <a:custGeom>
              <a:rect b="b" l="l" r="r" t="t"/>
              <a:pathLst>
                <a:path extrusionOk="0" h="762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B82E"/>
            </a:solidFill>
            <a:ln>
              <a:noFill/>
            </a:ln>
          </p:spPr>
        </p:sp>
        <p:sp>
          <p:nvSpPr>
            <p:cNvPr id="90" name="Google Shape;90;p1"/>
            <p:cNvSpPr txBox="1"/>
            <p:nvPr/>
          </p:nvSpPr>
          <p:spPr>
            <a:xfrm>
              <a:off x="0" y="-38100"/>
              <a:ext cx="1905000" cy="1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1"/>
          <p:cNvSpPr txBox="1"/>
          <p:nvPr/>
        </p:nvSpPr>
        <p:spPr>
          <a:xfrm>
            <a:off x="550675" y="5201148"/>
            <a:ext cx="11814000" cy="17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Magnetohydrodynamics</a:t>
            </a:r>
            <a:r>
              <a:rPr b="1"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and solar oscillations</a:t>
            </a:r>
            <a:endParaRPr/>
          </a:p>
        </p:txBody>
      </p:sp>
      <p:grpSp>
        <p:nvGrpSpPr>
          <p:cNvPr id="92" name="Google Shape;92;p1"/>
          <p:cNvGrpSpPr/>
          <p:nvPr/>
        </p:nvGrpSpPr>
        <p:grpSpPr>
          <a:xfrm>
            <a:off x="857250" y="8877300"/>
            <a:ext cx="3143250" cy="1028700"/>
            <a:chOff x="0" y="-38100"/>
            <a:chExt cx="4191000" cy="1371600"/>
          </a:xfrm>
        </p:grpSpPr>
        <p:sp>
          <p:nvSpPr>
            <p:cNvPr id="93" name="Google Shape;93;p1"/>
            <p:cNvSpPr/>
            <p:nvPr/>
          </p:nvSpPr>
          <p:spPr>
            <a:xfrm>
              <a:off x="0" y="0"/>
              <a:ext cx="4191000" cy="1333500"/>
            </a:xfrm>
            <a:custGeom>
              <a:rect b="b" l="l" r="r" t="t"/>
              <a:pathLst>
                <a:path extrusionOk="0" h="1333500" w="4191000">
                  <a:moveTo>
                    <a:pt x="228600" y="0"/>
                  </a:moveTo>
                  <a:lnTo>
                    <a:pt x="3962400" y="0"/>
                  </a:lnTo>
                  <a:cubicBezTo>
                    <a:pt x="4088652" y="0"/>
                    <a:pt x="4191000" y="102348"/>
                    <a:pt x="4191000" y="228600"/>
                  </a:cubicBezTo>
                  <a:lnTo>
                    <a:pt x="4191000" y="1104900"/>
                  </a:lnTo>
                  <a:cubicBezTo>
                    <a:pt x="4191000" y="1231152"/>
                    <a:pt x="4088652" y="1333500"/>
                    <a:pt x="3962400" y="1333500"/>
                  </a:cubicBezTo>
                  <a:lnTo>
                    <a:pt x="228600" y="1333500"/>
                  </a:lnTo>
                  <a:cubicBezTo>
                    <a:pt x="102348" y="1333500"/>
                    <a:pt x="0" y="1231152"/>
                    <a:pt x="0" y="11049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"/>
            <p:cNvSpPr txBox="1"/>
            <p:nvPr/>
          </p:nvSpPr>
          <p:spPr>
            <a:xfrm>
              <a:off x="0" y="-38100"/>
              <a:ext cx="41910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Logo Group of Solar Astrophysics GoSA" id="95" name="Google Shape;95;p1"/>
          <p:cNvSpPr/>
          <p:nvPr/>
        </p:nvSpPr>
        <p:spPr>
          <a:xfrm>
            <a:off x="1028700" y="9029700"/>
            <a:ext cx="1619250" cy="762000"/>
          </a:xfrm>
          <a:custGeom>
            <a:rect b="b" l="l" r="r" t="t"/>
            <a:pathLst>
              <a:path extrusionOk="0" h="762000" w="1619250">
                <a:moveTo>
                  <a:pt x="0" y="0"/>
                </a:moveTo>
                <a:lnTo>
                  <a:pt x="1619250" y="0"/>
                </a:lnTo>
                <a:lnTo>
                  <a:pt x="16192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78" r="-278" t="0"/>
            </a:stretch>
          </a:blipFill>
          <a:ln>
            <a:noFill/>
          </a:ln>
        </p:spPr>
      </p:sp>
      <p:sp>
        <p:nvSpPr>
          <p:cNvPr descr="Logo Observatorio Astronómico Nacional" id="96" name="Google Shape;96;p1"/>
          <p:cNvSpPr/>
          <p:nvPr/>
        </p:nvSpPr>
        <p:spPr>
          <a:xfrm>
            <a:off x="2857500" y="8991600"/>
            <a:ext cx="895350" cy="838200"/>
          </a:xfrm>
          <a:custGeom>
            <a:rect b="b" l="l" r="r" t="t"/>
            <a:pathLst>
              <a:path extrusionOk="0" h="838200" w="895350">
                <a:moveTo>
                  <a:pt x="0" y="0"/>
                </a:moveTo>
                <a:lnTo>
                  <a:pt x="895350" y="0"/>
                </a:lnTo>
                <a:lnTo>
                  <a:pt x="89535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57" r="-257" t="0"/>
            </a:stretch>
          </a:blipFill>
          <a:ln>
            <a:noFill/>
          </a:ln>
        </p:spPr>
      </p:sp>
      <p:sp>
        <p:nvSpPr>
          <p:cNvPr id="97" name="Google Shape;97;p1"/>
          <p:cNvSpPr txBox="1"/>
          <p:nvPr/>
        </p:nvSpPr>
        <p:spPr>
          <a:xfrm>
            <a:off x="4286250" y="8982075"/>
            <a:ext cx="6667500" cy="63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FB3C8"/>
                </a:solidFill>
                <a:latin typeface="Arimo"/>
                <a:ea typeface="Arimo"/>
                <a:cs typeface="Arimo"/>
                <a:sym typeface="Arimo"/>
              </a:rPr>
              <a:t>Group of Solar Astrophysics GoSA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FB3C8"/>
                </a:solidFill>
                <a:latin typeface="Arimo"/>
                <a:ea typeface="Arimo"/>
                <a:cs typeface="Arimo"/>
                <a:sym typeface="Arimo"/>
              </a:rPr>
              <a:t>Observatorio Astronómico Nacional · UNAL Bogotá</a:t>
            </a:r>
            <a:endParaRPr/>
          </a:p>
        </p:txBody>
      </p:sp>
      <p:pic>
        <p:nvPicPr>
          <p:cNvPr id="98" name="Google Shape;98;p1" title="h-alpha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11750" y="2034050"/>
            <a:ext cx="6781800" cy="316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"/>
          <p:cNvPicPr preferRelativeResize="0"/>
          <p:nvPr/>
        </p:nvPicPr>
        <p:blipFill rotWithShape="1">
          <a:blip r:embed="rId3">
            <a:alphaModFix/>
          </a:blip>
          <a:srcRect b="0" l="0" r="25239" t="0"/>
          <a:stretch/>
        </p:blipFill>
        <p:spPr>
          <a:xfrm>
            <a:off x="1950000" y="712500"/>
            <a:ext cx="13985900" cy="8175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2"/>
          <p:cNvGrpSpPr/>
          <p:nvPr/>
        </p:nvGrpSpPr>
        <p:grpSpPr>
          <a:xfrm>
            <a:off x="16383000" y="542925"/>
            <a:ext cx="1238250" cy="1266825"/>
            <a:chOff x="0" y="-38100"/>
            <a:chExt cx="1651000" cy="1689100"/>
          </a:xfrm>
        </p:grpSpPr>
        <p:sp>
          <p:nvSpPr>
            <p:cNvPr id="105" name="Google Shape;105;p2"/>
            <p:cNvSpPr/>
            <p:nvPr/>
          </p:nvSpPr>
          <p:spPr>
            <a:xfrm>
              <a:off x="185738" y="185738"/>
              <a:ext cx="1279525" cy="1279525"/>
            </a:xfrm>
            <a:custGeom>
              <a:rect b="b" l="l" r="r" t="t"/>
              <a:pathLst>
                <a:path extrusionOk="0" h="1279525" w="1279525">
                  <a:moveTo>
                    <a:pt x="275166" y="639762"/>
                  </a:moveTo>
                  <a:cubicBezTo>
                    <a:pt x="275166" y="841123"/>
                    <a:pt x="438401" y="1004358"/>
                    <a:pt x="639762" y="1004358"/>
                  </a:cubicBezTo>
                  <a:cubicBezTo>
                    <a:pt x="841123" y="1004358"/>
                    <a:pt x="1004358" y="841123"/>
                    <a:pt x="1004358" y="639762"/>
                  </a:cubicBezTo>
                  <a:cubicBezTo>
                    <a:pt x="1004358" y="438401"/>
                    <a:pt x="841123" y="275166"/>
                    <a:pt x="639762" y="275166"/>
                  </a:cubicBezTo>
                  <a:cubicBezTo>
                    <a:pt x="438401" y="275166"/>
                    <a:pt x="275166" y="438401"/>
                    <a:pt x="275166" y="639762"/>
                  </a:cubicBezTo>
                  <a:close/>
                  <a:moveTo>
                    <a:pt x="1246505" y="260720"/>
                  </a:moveTo>
                  <a:cubicBezTo>
                    <a:pt x="1203867" y="188286"/>
                    <a:pt x="1047386" y="194142"/>
                    <a:pt x="836581" y="276061"/>
                  </a:cubicBezTo>
                  <a:cubicBezTo>
                    <a:pt x="625775" y="357980"/>
                    <a:pt x="393043" y="503372"/>
                    <a:pt x="226905" y="656936"/>
                  </a:cubicBezTo>
                  <a:cubicBezTo>
                    <a:pt x="60766" y="810500"/>
                    <a:pt x="-13246" y="948637"/>
                    <a:pt x="33020" y="1018804"/>
                  </a:cubicBezTo>
                  <a:cubicBezTo>
                    <a:pt x="75657" y="1091238"/>
                    <a:pt x="232138" y="1085382"/>
                    <a:pt x="442943" y="1003463"/>
                  </a:cubicBezTo>
                  <a:cubicBezTo>
                    <a:pt x="653749" y="921544"/>
                    <a:pt x="886481" y="776152"/>
                    <a:pt x="1052619" y="622588"/>
                  </a:cubicBezTo>
                  <a:cubicBezTo>
                    <a:pt x="1218758" y="469024"/>
                    <a:pt x="1292770" y="330887"/>
                    <a:pt x="1246505" y="260720"/>
                  </a:cubicBezTo>
                  <a:close/>
                  <a:moveTo>
                    <a:pt x="639762" y="110066"/>
                  </a:moveTo>
                  <a:lnTo>
                    <a:pt x="639762" y="0"/>
                  </a:lnTo>
                  <a:moveTo>
                    <a:pt x="639762" y="1279524"/>
                  </a:moveTo>
                  <a:lnTo>
                    <a:pt x="639762" y="1169458"/>
                  </a:lnTo>
                  <a:moveTo>
                    <a:pt x="110066" y="639762"/>
                  </a:moveTo>
                  <a:lnTo>
                    <a:pt x="0" y="639762"/>
                  </a:lnTo>
                  <a:moveTo>
                    <a:pt x="1279524" y="639762"/>
                  </a:moveTo>
                  <a:lnTo>
                    <a:pt x="1169458" y="639762"/>
                  </a:lnTo>
                  <a:moveTo>
                    <a:pt x="268287" y="268287"/>
                  </a:moveTo>
                  <a:lnTo>
                    <a:pt x="192616" y="192616"/>
                  </a:lnTo>
                  <a:moveTo>
                    <a:pt x="1011237" y="1011237"/>
                  </a:moveTo>
                  <a:lnTo>
                    <a:pt x="1086908" y="1086908"/>
                  </a:lnTo>
                  <a:moveTo>
                    <a:pt x="302683" y="687916"/>
                  </a:moveTo>
                  <a:lnTo>
                    <a:pt x="454024" y="687916"/>
                  </a:lnTo>
                  <a:lnTo>
                    <a:pt x="529695" y="529695"/>
                  </a:lnTo>
                  <a:lnTo>
                    <a:pt x="646641" y="804862"/>
                  </a:lnTo>
                  <a:lnTo>
                    <a:pt x="749829" y="598487"/>
                  </a:lnTo>
                  <a:lnTo>
                    <a:pt x="818620" y="687916"/>
                  </a:lnTo>
                  <a:lnTo>
                    <a:pt x="983720" y="687916"/>
                  </a:lnTo>
                </a:path>
              </a:pathLst>
            </a:custGeom>
            <a:noFill/>
            <a:ln cap="sq" cmpd="sng" w="38100">
              <a:solidFill>
                <a:srgbClr val="087F8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-38100"/>
              <a:ext cx="1651000" cy="16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2"/>
          <p:cNvSpPr txBox="1"/>
          <p:nvPr/>
        </p:nvSpPr>
        <p:spPr>
          <a:xfrm>
            <a:off x="666750" y="9772650"/>
            <a:ext cx="9525000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53697A"/>
                </a:solidFill>
                <a:latin typeface="Arimo"/>
                <a:ea typeface="Arimo"/>
                <a:cs typeface="Arimo"/>
                <a:sym typeface="Arimo"/>
              </a:rPr>
              <a:t>HELIODATA ACADEMY 2026  ·  ESCUELA DE ASTROFÍSICA SOLAR</a:t>
            </a:r>
            <a:endParaRPr/>
          </a:p>
        </p:txBody>
      </p:sp>
      <p:grpSp>
        <p:nvGrpSpPr>
          <p:cNvPr id="108" name="Google Shape;108;p2"/>
          <p:cNvGrpSpPr/>
          <p:nvPr/>
        </p:nvGrpSpPr>
        <p:grpSpPr>
          <a:xfrm>
            <a:off x="666750" y="9610725"/>
            <a:ext cx="16954500" cy="47625"/>
            <a:chOff x="0" y="-38100"/>
            <a:chExt cx="22606000" cy="63500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22606000" cy="25400"/>
            </a:xfrm>
            <a:custGeom>
              <a:rect b="b" l="l" r="r" t="t"/>
              <a:pathLst>
                <a:path extrusionOk="0"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9D3DD"/>
            </a:solidFill>
            <a:ln>
              <a:noFill/>
            </a:ln>
          </p:spPr>
        </p:sp>
        <p:sp>
          <p:nvSpPr>
            <p:cNvPr id="110" name="Google Shape;110;p2"/>
            <p:cNvSpPr txBox="1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Logo GoSA" id="111" name="Google Shape;111;p2"/>
          <p:cNvSpPr/>
          <p:nvPr/>
        </p:nvSpPr>
        <p:spPr>
          <a:xfrm>
            <a:off x="16192500" y="9734550"/>
            <a:ext cx="819150" cy="381000"/>
          </a:xfrm>
          <a:custGeom>
            <a:rect b="b" l="l" r="r" t="t"/>
            <a:pathLst>
              <a:path extrusionOk="0" h="381000" w="819150">
                <a:moveTo>
                  <a:pt x="0" y="0"/>
                </a:moveTo>
                <a:lnTo>
                  <a:pt x="819150" y="0"/>
                </a:lnTo>
                <a:lnTo>
                  <a:pt x="819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07" l="0" r="0" t="-307"/>
            </a:stretch>
          </a:blipFill>
          <a:ln>
            <a:noFill/>
          </a:ln>
        </p:spPr>
      </p:sp>
      <p:sp>
        <p:nvSpPr>
          <p:cNvPr descr="Logo Observatorio Astronómico Nacional" id="112" name="Google Shape;112;p2"/>
          <p:cNvSpPr/>
          <p:nvPr/>
        </p:nvSpPr>
        <p:spPr>
          <a:xfrm>
            <a:off x="17145000" y="9715500"/>
            <a:ext cx="457200" cy="428625"/>
          </a:xfrm>
          <a:custGeom>
            <a:rect b="b" l="l" r="r" t="t"/>
            <a:pathLst>
              <a:path extrusionOk="0"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28" r="-328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h161039d3f87a9e89_0_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7746133" cy="998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D30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grpSp>
        <p:nvGrpSpPr>
          <p:cNvPr id="123" name="Google Shape;123;p3"/>
          <p:cNvGrpSpPr/>
          <p:nvPr/>
        </p:nvGrpSpPr>
        <p:grpSpPr>
          <a:xfrm>
            <a:off x="666750" y="522089"/>
            <a:ext cx="16954500" cy="9098165"/>
            <a:chOff x="0" y="-38100"/>
            <a:chExt cx="4465383" cy="2396224"/>
          </a:xfrm>
        </p:grpSpPr>
        <p:sp>
          <p:nvSpPr>
            <p:cNvPr id="124" name="Google Shape;124;p3"/>
            <p:cNvSpPr/>
            <p:nvPr/>
          </p:nvSpPr>
          <p:spPr>
            <a:xfrm>
              <a:off x="0" y="0"/>
              <a:ext cx="4465383" cy="2358124"/>
            </a:xfrm>
            <a:custGeom>
              <a:rect b="b" l="l" r="r" t="t"/>
              <a:pathLst>
                <a:path extrusionOk="0"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5B8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 txBox="1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3"/>
          <p:cNvSpPr txBox="1"/>
          <p:nvPr/>
        </p:nvSpPr>
        <p:spPr>
          <a:xfrm>
            <a:off x="1244550" y="5227838"/>
            <a:ext cx="12944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71D30"/>
                </a:solidFill>
                <a:latin typeface="Geo"/>
                <a:ea typeface="Geo"/>
                <a:cs typeface="Geo"/>
                <a:sym typeface="Geo"/>
              </a:rPr>
              <a:t>MHD equations and waves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1524000" y="2628900"/>
            <a:ext cx="6667500" cy="2266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0" u="none" cap="none" strike="noStrike">
                <a:solidFill>
                  <a:srgbClr val="071D30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1638300" y="1752600"/>
            <a:ext cx="4762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71D30"/>
                </a:solidFill>
                <a:latin typeface="Arimo"/>
                <a:ea typeface="Arimo"/>
                <a:cs typeface="Arimo"/>
                <a:sym typeface="Arimo"/>
              </a:rPr>
              <a:t>Section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1638300" y="6791325"/>
            <a:ext cx="10477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071D30"/>
                </a:solidFill>
                <a:latin typeface="Arimo"/>
                <a:ea typeface="Arimo"/>
                <a:cs typeface="Arimo"/>
                <a:sym typeface="Arimo"/>
              </a:rPr>
              <a:t>What happens when you shake a magnetic field?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666750" y="9772650"/>
            <a:ext cx="9525000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9FB3C8"/>
                </a:solidFill>
                <a:latin typeface="Arimo"/>
                <a:ea typeface="Arimo"/>
                <a:cs typeface="Arimo"/>
                <a:sym typeface="Arimo"/>
              </a:rPr>
              <a:t>HELIODATA ACADEMY 2026  ·  ESCUELA DE ASTROFÍSICA SOLAR</a:t>
            </a:r>
            <a:endParaRPr/>
          </a:p>
        </p:txBody>
      </p:sp>
      <p:sp>
        <p:nvSpPr>
          <p:cNvPr descr="Logo GoSA" id="131" name="Google Shape;131;p3"/>
          <p:cNvSpPr/>
          <p:nvPr/>
        </p:nvSpPr>
        <p:spPr>
          <a:xfrm>
            <a:off x="16192500" y="9753600"/>
            <a:ext cx="762000" cy="352425"/>
          </a:xfrm>
          <a:custGeom>
            <a:rect b="b" l="l" r="r" t="t"/>
            <a:pathLst>
              <a:path extrusionOk="0" h="352425" w="762000">
                <a:moveTo>
                  <a:pt x="0" y="0"/>
                </a:moveTo>
                <a:lnTo>
                  <a:pt x="762000" y="0"/>
                </a:lnTo>
                <a:lnTo>
                  <a:pt x="762000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92" l="0" r="0" t="-592"/>
            </a:stretch>
          </a:blipFill>
          <a:ln>
            <a:noFill/>
          </a:ln>
        </p:spPr>
      </p:sp>
      <p:sp>
        <p:nvSpPr>
          <p:cNvPr descr="Logo Observatorio Astronómico Nacional" id="132" name="Google Shape;132;p3"/>
          <p:cNvSpPr/>
          <p:nvPr/>
        </p:nvSpPr>
        <p:spPr>
          <a:xfrm>
            <a:off x="17145000" y="9715500"/>
            <a:ext cx="457200" cy="428625"/>
          </a:xfrm>
          <a:custGeom>
            <a:rect b="b" l="l" r="r" t="t"/>
            <a:pathLst>
              <a:path extrusionOk="0"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28" r="-328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h161039d3f87a9e89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563" y="3287075"/>
            <a:ext cx="7880875" cy="577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h161039d3f87a9e89_0_11" title="01_particle(2).gif"/>
          <p:cNvPicPr preferRelativeResize="0"/>
          <p:nvPr/>
        </p:nvPicPr>
        <p:blipFill rotWithShape="1">
          <a:blip r:embed="rId4">
            <a:alphaModFix/>
          </a:blip>
          <a:srcRect b="31235" l="27916" r="27483" t="24988"/>
          <a:stretch/>
        </p:blipFill>
        <p:spPr>
          <a:xfrm>
            <a:off x="9731899" y="3977613"/>
            <a:ext cx="7674276" cy="439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h161039d3f87a9e89_0_11"/>
          <p:cNvSpPr txBox="1"/>
          <p:nvPr/>
        </p:nvSpPr>
        <p:spPr>
          <a:xfrm>
            <a:off x="0" y="272500"/>
            <a:ext cx="15192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/>
              <a:t>Newton's second law</a:t>
            </a:r>
            <a:r>
              <a:rPr lang="en-US" sz="8000"/>
              <a:t> …</a:t>
            </a:r>
            <a:r>
              <a:rPr lang="en-US" sz="8000"/>
              <a:t> again!</a:t>
            </a:r>
            <a:endParaRPr sz="8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161039d3f87a9e89_0_43"/>
          <p:cNvSpPr txBox="1"/>
          <p:nvPr/>
        </p:nvSpPr>
        <p:spPr>
          <a:xfrm>
            <a:off x="0" y="272500"/>
            <a:ext cx="15192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/>
              <a:t>Newton's second law … In a fluid</a:t>
            </a:r>
            <a:endParaRPr sz="8000"/>
          </a:p>
        </p:txBody>
      </p:sp>
      <p:pic>
        <p:nvPicPr>
          <p:cNvPr id="145" name="Google Shape;145;h161039d3f87a9e89_0_43" title="lagrida_latex_editor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6541575"/>
            <a:ext cx="18135599" cy="1631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h161039d3f87a9e89_0_43" title="02_plasma_element(2)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0450" y="1840900"/>
            <a:ext cx="7797042" cy="45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7605234e4dc15daa_0_28"/>
          <p:cNvSpPr txBox="1"/>
          <p:nvPr/>
        </p:nvSpPr>
        <p:spPr>
          <a:xfrm>
            <a:off x="0" y="272500"/>
            <a:ext cx="18288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00"/>
              <a:t>The first wave: sound</a:t>
            </a:r>
            <a:endParaRPr sz="7400"/>
          </a:p>
        </p:txBody>
      </p:sp>
      <p:pic>
        <p:nvPicPr>
          <p:cNvPr id="152" name="Google Shape;152;h7605234e4dc15daa_0_28" title="equation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2550" y="2286000"/>
            <a:ext cx="79629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h7605234e4dc15daa_0_28" title="sound_wave_earth_chromosphere_en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3125" y="4572000"/>
            <a:ext cx="11541760" cy="54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161039d3f87a9e89_0_55"/>
          <p:cNvSpPr txBox="1"/>
          <p:nvPr/>
        </p:nvSpPr>
        <p:spPr>
          <a:xfrm>
            <a:off x="0" y="272500"/>
            <a:ext cx="18288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00"/>
              <a:t>Newton's second law … In a plasma </a:t>
            </a:r>
            <a:endParaRPr sz="7400"/>
          </a:p>
        </p:txBody>
      </p:sp>
      <p:pic>
        <p:nvPicPr>
          <p:cNvPr id="159" name="Google Shape;159;h161039d3f87a9e89_0_55" title="06_uniform_magnetic_field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1500" y="1787700"/>
            <a:ext cx="15645000" cy="57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h161039d3f87a9e89_0_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4238" y="7765575"/>
            <a:ext cx="10419524" cy="163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h161039d3f87a9e89_0_103" title="07_magnetic_pressure_and_tension(1)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125" y="1809750"/>
            <a:ext cx="11430000" cy="666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h161039d3f87a9e89_0_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28425" y="4074550"/>
            <a:ext cx="7959575" cy="213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h161039d3f87a9e89_0_103"/>
          <p:cNvSpPr txBox="1"/>
          <p:nvPr/>
        </p:nvSpPr>
        <p:spPr>
          <a:xfrm>
            <a:off x="0" y="272500"/>
            <a:ext cx="18288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00"/>
              <a:t>The missing ingredient: the magnetic field</a:t>
            </a:r>
            <a:endParaRPr sz="7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161039d3f87a9e89_0_65"/>
          <p:cNvSpPr txBox="1"/>
          <p:nvPr/>
        </p:nvSpPr>
        <p:spPr>
          <a:xfrm>
            <a:off x="0" y="272500"/>
            <a:ext cx="18288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00"/>
              <a:t>MHD’s equations</a:t>
            </a:r>
            <a:endParaRPr sz="7400"/>
          </a:p>
        </p:txBody>
      </p:sp>
      <p:pic>
        <p:nvPicPr>
          <p:cNvPr id="173" name="Google Shape;173;h161039d3f87a9e89_0_65" title="lagrida_latex_editor(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350" y="1782550"/>
            <a:ext cx="17061300" cy="758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h7605234e4dc15daa_0_17" title="equation(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51750" y="3984175"/>
            <a:ext cx="3600175" cy="231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h7605234e4dc15daa_0_17" title="slide10_three_waves.gif"/>
          <p:cNvPicPr preferRelativeResize="0"/>
          <p:nvPr/>
        </p:nvPicPr>
        <p:blipFill rotWithShape="1">
          <a:blip r:embed="rId4">
            <a:alphaModFix/>
          </a:blip>
          <a:srcRect b="0" l="0" r="0" t="7868"/>
          <a:stretch/>
        </p:blipFill>
        <p:spPr>
          <a:xfrm>
            <a:off x="147900" y="2304852"/>
            <a:ext cx="14403852" cy="746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h7605234e4dc15daa_0_17"/>
          <p:cNvSpPr txBox="1"/>
          <p:nvPr/>
        </p:nvSpPr>
        <p:spPr>
          <a:xfrm>
            <a:off x="0" y="272500"/>
            <a:ext cx="18288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00"/>
              <a:t>Three waves in a plasma</a:t>
            </a:r>
            <a:endParaRPr sz="7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h7605234e4dc15daa_0_3" title="flux_tube_mo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8151" y="1428113"/>
            <a:ext cx="13780476" cy="885887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h7605234e4dc15daa_0_3"/>
          <p:cNvSpPr txBox="1"/>
          <p:nvPr/>
        </p:nvSpPr>
        <p:spPr>
          <a:xfrm>
            <a:off x="0" y="272500"/>
            <a:ext cx="21846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/>
              <a:t>From waves to modes: the tube is a waveguide</a:t>
            </a:r>
            <a:endParaRPr sz="6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h161039d3f87a9e89_0_21" title="03_kink_mode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691374" y="2677138"/>
            <a:ext cx="6153201" cy="4084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h161039d3f87a9e89_0_21" title="04_sausage_mode.gif"/>
          <p:cNvPicPr preferRelativeResize="0"/>
          <p:nvPr/>
        </p:nvPicPr>
        <p:blipFill rotWithShape="1">
          <a:blip r:embed="rId4">
            <a:alphaModFix/>
          </a:blip>
          <a:srcRect b="25552" l="0" r="0" t="22597"/>
          <a:stretch/>
        </p:blipFill>
        <p:spPr>
          <a:xfrm rot="5400000">
            <a:off x="5897662" y="2990820"/>
            <a:ext cx="6492651" cy="34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h161039d3f87a9e89_0_21" title="05_torsional_alfven_mode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1972638" y="2573450"/>
            <a:ext cx="5828049" cy="429192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h161039d3f87a9e89_0_21"/>
          <p:cNvSpPr txBox="1"/>
          <p:nvPr/>
        </p:nvSpPr>
        <p:spPr>
          <a:xfrm>
            <a:off x="0" y="272500"/>
            <a:ext cx="21846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/>
              <a:t>From waves to modes: the tube is a waveguide</a:t>
            </a:r>
            <a:endParaRPr sz="6600"/>
          </a:p>
        </p:txBody>
      </p:sp>
      <p:sp>
        <p:nvSpPr>
          <p:cNvPr id="195" name="Google Shape;195;h161039d3f87a9e89_0_21"/>
          <p:cNvSpPr txBox="1"/>
          <p:nvPr/>
        </p:nvSpPr>
        <p:spPr>
          <a:xfrm>
            <a:off x="7276500" y="8846975"/>
            <a:ext cx="3735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/>
              <a:t>Sausage </a:t>
            </a:r>
            <a:endParaRPr sz="6600"/>
          </a:p>
        </p:txBody>
      </p:sp>
      <p:sp>
        <p:nvSpPr>
          <p:cNvPr id="196" name="Google Shape;196;h161039d3f87a9e89_0_21"/>
          <p:cNvSpPr txBox="1"/>
          <p:nvPr/>
        </p:nvSpPr>
        <p:spPr>
          <a:xfrm>
            <a:off x="11835237" y="8694600"/>
            <a:ext cx="6102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/>
              <a:t>Torsional Alfvén</a:t>
            </a:r>
            <a:r>
              <a:rPr lang="en-US" sz="6600"/>
              <a:t> </a:t>
            </a:r>
            <a:endParaRPr sz="6600"/>
          </a:p>
        </p:txBody>
      </p:sp>
      <p:sp>
        <p:nvSpPr>
          <p:cNvPr id="197" name="Google Shape;197;h161039d3f87a9e89_0_21"/>
          <p:cNvSpPr txBox="1"/>
          <p:nvPr/>
        </p:nvSpPr>
        <p:spPr>
          <a:xfrm>
            <a:off x="2777975" y="8846975"/>
            <a:ext cx="1980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/>
              <a:t>Kink</a:t>
            </a:r>
            <a:r>
              <a:rPr lang="en-US" sz="6600"/>
              <a:t> </a:t>
            </a:r>
            <a:endParaRPr sz="6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D30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h7605234e4dc15daa_0_64"/>
          <p:cNvSpPr txBox="1"/>
          <p:nvPr/>
        </p:nvSpPr>
        <p:spPr>
          <a:xfrm>
            <a:off x="17259300" y="9220200"/>
            <a:ext cx="15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grpSp>
        <p:nvGrpSpPr>
          <p:cNvPr id="203" name="Google Shape;203;h7605234e4dc15daa_0_64"/>
          <p:cNvGrpSpPr/>
          <p:nvPr/>
        </p:nvGrpSpPr>
        <p:grpSpPr>
          <a:xfrm>
            <a:off x="666750" y="522088"/>
            <a:ext cx="16955057" cy="9098223"/>
            <a:chOff x="0" y="-38100"/>
            <a:chExt cx="4465500" cy="2396224"/>
          </a:xfrm>
        </p:grpSpPr>
        <p:sp>
          <p:nvSpPr>
            <p:cNvPr id="204" name="Google Shape;204;h7605234e4dc15daa_0_64"/>
            <p:cNvSpPr/>
            <p:nvPr/>
          </p:nvSpPr>
          <p:spPr>
            <a:xfrm>
              <a:off x="0" y="0"/>
              <a:ext cx="4465383" cy="2358124"/>
            </a:xfrm>
            <a:custGeom>
              <a:rect b="b" l="l" r="r" t="t"/>
              <a:pathLst>
                <a:path extrusionOk="0"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5B8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h7605234e4dc15daa_0_64"/>
            <p:cNvSpPr txBox="1"/>
            <p:nvPr/>
          </p:nvSpPr>
          <p:spPr>
            <a:xfrm>
              <a:off x="0" y="-38100"/>
              <a:ext cx="4465500" cy="23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h7605234e4dc15daa_0_64"/>
          <p:cNvSpPr txBox="1"/>
          <p:nvPr/>
        </p:nvSpPr>
        <p:spPr>
          <a:xfrm>
            <a:off x="1244550" y="5227838"/>
            <a:ext cx="12944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71D30"/>
                </a:solidFill>
                <a:latin typeface="Geo"/>
                <a:ea typeface="Geo"/>
                <a:cs typeface="Geo"/>
                <a:sym typeface="Geo"/>
              </a:rPr>
              <a:t>Observations :)</a:t>
            </a:r>
            <a:endParaRPr/>
          </a:p>
        </p:txBody>
      </p:sp>
      <p:sp>
        <p:nvSpPr>
          <p:cNvPr id="207" name="Google Shape;207;h7605234e4dc15daa_0_64"/>
          <p:cNvSpPr txBox="1"/>
          <p:nvPr/>
        </p:nvSpPr>
        <p:spPr>
          <a:xfrm>
            <a:off x="1524000" y="2628900"/>
            <a:ext cx="66675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0" u="none" cap="none" strike="noStrike">
                <a:solidFill>
                  <a:srgbClr val="071D30"/>
                </a:solidFill>
                <a:latin typeface="Arimo"/>
                <a:ea typeface="Arimo"/>
                <a:cs typeface="Arimo"/>
                <a:sym typeface="Arimo"/>
              </a:rPr>
              <a:t>0</a:t>
            </a:r>
            <a:r>
              <a:rPr b="1" lang="en-US" sz="16500">
                <a:solidFill>
                  <a:srgbClr val="071D30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  <a:endParaRPr/>
          </a:p>
        </p:txBody>
      </p:sp>
      <p:sp>
        <p:nvSpPr>
          <p:cNvPr id="208" name="Google Shape;208;h7605234e4dc15daa_0_64"/>
          <p:cNvSpPr txBox="1"/>
          <p:nvPr/>
        </p:nvSpPr>
        <p:spPr>
          <a:xfrm>
            <a:off x="1638300" y="1752600"/>
            <a:ext cx="4762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71D30"/>
                </a:solidFill>
                <a:latin typeface="Arimo"/>
                <a:ea typeface="Arimo"/>
                <a:cs typeface="Arimo"/>
                <a:sym typeface="Arimo"/>
              </a:rPr>
              <a:t>Section</a:t>
            </a:r>
            <a:endParaRPr/>
          </a:p>
        </p:txBody>
      </p:sp>
      <p:sp>
        <p:nvSpPr>
          <p:cNvPr id="209" name="Google Shape;209;h7605234e4dc15daa_0_64"/>
          <p:cNvSpPr txBox="1"/>
          <p:nvPr/>
        </p:nvSpPr>
        <p:spPr>
          <a:xfrm>
            <a:off x="1638300" y="6791325"/>
            <a:ext cx="10477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071D30"/>
                </a:solidFill>
                <a:latin typeface="Arimo"/>
                <a:ea typeface="Arimo"/>
                <a:cs typeface="Arimo"/>
                <a:sym typeface="Arimo"/>
              </a:rPr>
              <a:t>How do we see waves on the Sun?</a:t>
            </a:r>
            <a:endParaRPr/>
          </a:p>
        </p:txBody>
      </p:sp>
      <p:sp>
        <p:nvSpPr>
          <p:cNvPr id="210" name="Google Shape;210;h7605234e4dc15daa_0_64"/>
          <p:cNvSpPr txBox="1"/>
          <p:nvPr/>
        </p:nvSpPr>
        <p:spPr>
          <a:xfrm>
            <a:off x="666750" y="9772650"/>
            <a:ext cx="9525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9FB3C8"/>
                </a:solidFill>
                <a:latin typeface="Arimo"/>
                <a:ea typeface="Arimo"/>
                <a:cs typeface="Arimo"/>
                <a:sym typeface="Arimo"/>
              </a:rPr>
              <a:t>HELIODATA ACADEMY 2026  ·  ESCUELA DE ASTROFÍSICA SOLAR</a:t>
            </a:r>
            <a:endParaRPr/>
          </a:p>
        </p:txBody>
      </p:sp>
      <p:sp>
        <p:nvSpPr>
          <p:cNvPr descr="Logo GoSA" id="211" name="Google Shape;211;h7605234e4dc15daa_0_64"/>
          <p:cNvSpPr/>
          <p:nvPr/>
        </p:nvSpPr>
        <p:spPr>
          <a:xfrm>
            <a:off x="16192500" y="9753600"/>
            <a:ext cx="762000" cy="352425"/>
          </a:xfrm>
          <a:custGeom>
            <a:rect b="b" l="l" r="r" t="t"/>
            <a:pathLst>
              <a:path extrusionOk="0" h="352425" w="762000">
                <a:moveTo>
                  <a:pt x="0" y="0"/>
                </a:moveTo>
                <a:lnTo>
                  <a:pt x="762000" y="0"/>
                </a:lnTo>
                <a:lnTo>
                  <a:pt x="762000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90" l="0" r="0" t="-590"/>
            </a:stretch>
          </a:blipFill>
          <a:ln>
            <a:noFill/>
          </a:ln>
        </p:spPr>
      </p:sp>
      <p:sp>
        <p:nvSpPr>
          <p:cNvPr descr="Logo Observatorio Astronómico Nacional" id="212" name="Google Shape;212;h7605234e4dc15daa_0_64"/>
          <p:cNvSpPr/>
          <p:nvPr/>
        </p:nvSpPr>
        <p:spPr>
          <a:xfrm>
            <a:off x="17145000" y="9715500"/>
            <a:ext cx="457200" cy="428625"/>
          </a:xfrm>
          <a:custGeom>
            <a:rect b="b" l="l" r="r" t="t"/>
            <a:pathLst>
              <a:path extrusionOk="0"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30" r="-33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2ce3fe4848cf32bc_0_206"/>
          <p:cNvSpPr txBox="1"/>
          <p:nvPr>
            <p:ph idx="4294967295" type="title"/>
          </p:nvPr>
        </p:nvSpPr>
        <p:spPr>
          <a:xfrm>
            <a:off x="302875" y="476950"/>
            <a:ext cx="158769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8000"/>
              <a:t>The </a:t>
            </a:r>
            <a:r>
              <a:rPr lang="en-US" sz="8000"/>
              <a:t>sun</a:t>
            </a:r>
            <a:r>
              <a:rPr lang="en-US" sz="8000"/>
              <a:t> vibrates everywhere</a:t>
            </a:r>
            <a:endParaRPr sz="8000"/>
          </a:p>
        </p:txBody>
      </p:sp>
      <p:pic>
        <p:nvPicPr>
          <p:cNvPr id="218" name="Google Shape;218;h2ce3fe4848cf32bc_0_206" title="sol_oscilando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875" y="2379925"/>
            <a:ext cx="5527150" cy="552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h2ce3fe4848cf32bc_0_2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5687" y="2716800"/>
            <a:ext cx="4991275" cy="485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h2ce3fe4848cf32bc_0_2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88900" y="2716795"/>
            <a:ext cx="5527150" cy="5173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h31e873f2949e4b7d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3188" y="12"/>
            <a:ext cx="5801550" cy="535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h31e873f2949e4b7d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3713" y="5450049"/>
            <a:ext cx="14220575" cy="445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h31e873f2949e4b7d_0_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06206" y="1922008"/>
            <a:ext cx="5801550" cy="1837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h31e873f2949e4b7d_0_7"/>
          <p:cNvPicPr preferRelativeResize="0"/>
          <p:nvPr/>
        </p:nvPicPr>
        <p:blipFill rotWithShape="1">
          <a:blip r:embed="rId3">
            <a:alphaModFix/>
          </a:blip>
          <a:srcRect b="0" l="46100" r="0" t="0"/>
          <a:stretch/>
        </p:blipFill>
        <p:spPr>
          <a:xfrm>
            <a:off x="6577065" y="1941575"/>
            <a:ext cx="7081384" cy="6006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h31e873f2949e4b7d_0_7"/>
          <p:cNvPicPr preferRelativeResize="0"/>
          <p:nvPr/>
        </p:nvPicPr>
        <p:blipFill rotWithShape="1">
          <a:blip r:embed="rId3">
            <a:alphaModFix/>
          </a:blip>
          <a:srcRect b="0" l="0" r="53421" t="0"/>
          <a:stretch/>
        </p:blipFill>
        <p:spPr>
          <a:xfrm>
            <a:off x="457725" y="1941585"/>
            <a:ext cx="6119341" cy="6006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h31e873f2949e4b7d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58450" y="4115415"/>
            <a:ext cx="4477150" cy="2056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h31e873f2949e4b7d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300" y="152400"/>
            <a:ext cx="5208125" cy="485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h31e873f2949e4b7d_0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5075" y="391275"/>
            <a:ext cx="4162000" cy="437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h31e873f2949e4b7d_0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1850" y="5007250"/>
            <a:ext cx="12264165" cy="518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h31e873f2949e4b7d_0_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176028" y="3743956"/>
            <a:ext cx="4789275" cy="219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h31e873f2949e4b7d_0_17"/>
          <p:cNvSpPr txBox="1"/>
          <p:nvPr/>
        </p:nvSpPr>
        <p:spPr>
          <a:xfrm>
            <a:off x="0" y="272500"/>
            <a:ext cx="21846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/>
              <a:t>How the chromosphere is observed</a:t>
            </a:r>
            <a:endParaRPr sz="6600"/>
          </a:p>
        </p:txBody>
      </p:sp>
      <p:pic>
        <p:nvPicPr>
          <p:cNvPr id="248" name="Google Shape;248;h31e873f2949e4b7d_0_17" title="ChatGPT Image 25 ago 2026, 04_13_28 p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4899" y="1753899"/>
            <a:ext cx="8881751" cy="834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h31e873f2949e4b7d_0_17"/>
          <p:cNvSpPr txBox="1"/>
          <p:nvPr/>
        </p:nvSpPr>
        <p:spPr>
          <a:xfrm>
            <a:off x="992850" y="4096788"/>
            <a:ext cx="71583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/>
              <a:t>The chromosphere is a dynamic layer of the solar atmosphere located above the photosphere and below the transition region.</a:t>
            </a:r>
            <a:endParaRPr sz="3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h2ce3fe4848cf32bc_0_3"/>
          <p:cNvSpPr txBox="1"/>
          <p:nvPr>
            <p:ph idx="4294967295" type="title"/>
          </p:nvPr>
        </p:nvSpPr>
        <p:spPr>
          <a:xfrm>
            <a:off x="302875" y="476950"/>
            <a:ext cx="113388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8000"/>
              <a:t>Fibrils</a:t>
            </a:r>
            <a:endParaRPr sz="8000"/>
          </a:p>
        </p:txBody>
      </p:sp>
      <p:pic>
        <p:nvPicPr>
          <p:cNvPr id="255" name="Google Shape;255;h2ce3fe4848cf32bc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075" y="2343999"/>
            <a:ext cx="11074401" cy="55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h2ce3fe4848cf32bc_0_3"/>
          <p:cNvSpPr txBox="1"/>
          <p:nvPr/>
        </p:nvSpPr>
        <p:spPr>
          <a:xfrm>
            <a:off x="1069375" y="7943000"/>
            <a:ext cx="9805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Image taken from Kriginsky and Oliver (2025).</a:t>
            </a:r>
            <a:endParaRPr sz="3000"/>
          </a:p>
        </p:txBody>
      </p:sp>
      <p:sp>
        <p:nvSpPr>
          <p:cNvPr id="257" name="Google Shape;257;h2ce3fe4848cf32bc_0_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8" name="Google Shape;258;h2ce3fe4848cf32bc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78287" y="2463076"/>
            <a:ext cx="6157739" cy="559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D30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h2ce3fe4848cf32bc_0_217"/>
          <p:cNvSpPr txBox="1"/>
          <p:nvPr/>
        </p:nvSpPr>
        <p:spPr>
          <a:xfrm>
            <a:off x="17259300" y="9220200"/>
            <a:ext cx="15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grpSp>
        <p:nvGrpSpPr>
          <p:cNvPr id="264" name="Google Shape;264;h2ce3fe4848cf32bc_0_217"/>
          <p:cNvGrpSpPr/>
          <p:nvPr/>
        </p:nvGrpSpPr>
        <p:grpSpPr>
          <a:xfrm>
            <a:off x="666750" y="522088"/>
            <a:ext cx="16955057" cy="9098223"/>
            <a:chOff x="0" y="-38100"/>
            <a:chExt cx="4465500" cy="2396224"/>
          </a:xfrm>
        </p:grpSpPr>
        <p:sp>
          <p:nvSpPr>
            <p:cNvPr id="265" name="Google Shape;265;h2ce3fe4848cf32bc_0_217"/>
            <p:cNvSpPr/>
            <p:nvPr/>
          </p:nvSpPr>
          <p:spPr>
            <a:xfrm>
              <a:off x="0" y="0"/>
              <a:ext cx="4465383" cy="2358124"/>
            </a:xfrm>
            <a:custGeom>
              <a:rect b="b" l="l" r="r" t="t"/>
              <a:pathLst>
                <a:path extrusionOk="0"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5B8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h2ce3fe4848cf32bc_0_217"/>
            <p:cNvSpPr txBox="1"/>
            <p:nvPr/>
          </p:nvSpPr>
          <p:spPr>
            <a:xfrm>
              <a:off x="0" y="-38100"/>
              <a:ext cx="4465500" cy="23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7" name="Google Shape;267;h2ce3fe4848cf32bc_0_217"/>
          <p:cNvSpPr txBox="1"/>
          <p:nvPr/>
        </p:nvSpPr>
        <p:spPr>
          <a:xfrm>
            <a:off x="1244550" y="5227850"/>
            <a:ext cx="160146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71D30"/>
                </a:solidFill>
                <a:latin typeface="Geo"/>
                <a:ea typeface="Geo"/>
                <a:cs typeface="Geo"/>
                <a:sym typeface="Geo"/>
              </a:rPr>
              <a:t>TRANSVERSE OSCILLATIONS IN FIBRILS: OBSERVATION, ANALYSIS AND MHD MODES</a:t>
            </a:r>
            <a:r>
              <a:rPr lang="en-US" sz="8000">
                <a:solidFill>
                  <a:srgbClr val="071D30"/>
                </a:solidFill>
                <a:latin typeface="Geo"/>
                <a:ea typeface="Geo"/>
                <a:cs typeface="Geo"/>
                <a:sym typeface="Geo"/>
              </a:rPr>
              <a:t> </a:t>
            </a:r>
            <a:endParaRPr/>
          </a:p>
        </p:txBody>
      </p:sp>
      <p:sp>
        <p:nvSpPr>
          <p:cNvPr id="268" name="Google Shape;268;h2ce3fe4848cf32bc_0_217"/>
          <p:cNvSpPr txBox="1"/>
          <p:nvPr/>
        </p:nvSpPr>
        <p:spPr>
          <a:xfrm>
            <a:off x="1524000" y="2628900"/>
            <a:ext cx="66675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0" u="none" cap="none" strike="noStrike">
                <a:solidFill>
                  <a:srgbClr val="071D30"/>
                </a:solidFill>
                <a:latin typeface="Arimo"/>
                <a:ea typeface="Arimo"/>
                <a:cs typeface="Arimo"/>
                <a:sym typeface="Arimo"/>
              </a:rPr>
              <a:t>0</a:t>
            </a:r>
            <a:r>
              <a:rPr b="1" lang="en-US" sz="16500">
                <a:solidFill>
                  <a:srgbClr val="071D30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  <a:endParaRPr/>
          </a:p>
        </p:txBody>
      </p:sp>
      <p:sp>
        <p:nvSpPr>
          <p:cNvPr id="269" name="Google Shape;269;h2ce3fe4848cf32bc_0_217"/>
          <p:cNvSpPr txBox="1"/>
          <p:nvPr/>
        </p:nvSpPr>
        <p:spPr>
          <a:xfrm>
            <a:off x="1638300" y="1752600"/>
            <a:ext cx="4762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71D30"/>
                </a:solidFill>
                <a:latin typeface="Arimo"/>
                <a:ea typeface="Arimo"/>
                <a:cs typeface="Arimo"/>
                <a:sym typeface="Arimo"/>
              </a:rPr>
              <a:t>Section</a:t>
            </a:r>
            <a:endParaRPr/>
          </a:p>
        </p:txBody>
      </p:sp>
      <p:sp>
        <p:nvSpPr>
          <p:cNvPr id="270" name="Google Shape;270;h2ce3fe4848cf32bc_0_217"/>
          <p:cNvSpPr txBox="1"/>
          <p:nvPr/>
        </p:nvSpPr>
        <p:spPr>
          <a:xfrm>
            <a:off x="666750" y="9772650"/>
            <a:ext cx="9525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9FB3C8"/>
                </a:solidFill>
                <a:latin typeface="Arimo"/>
                <a:ea typeface="Arimo"/>
                <a:cs typeface="Arimo"/>
                <a:sym typeface="Arimo"/>
              </a:rPr>
              <a:t>HELIODATA ACADEMY 2026  ·  ESCUELA DE ASTROFÍSICA SOLAR</a:t>
            </a:r>
            <a:endParaRPr/>
          </a:p>
        </p:txBody>
      </p:sp>
      <p:sp>
        <p:nvSpPr>
          <p:cNvPr descr="Logo GoSA" id="271" name="Google Shape;271;h2ce3fe4848cf32bc_0_217"/>
          <p:cNvSpPr/>
          <p:nvPr/>
        </p:nvSpPr>
        <p:spPr>
          <a:xfrm>
            <a:off x="16192500" y="9753600"/>
            <a:ext cx="762000" cy="352425"/>
          </a:xfrm>
          <a:custGeom>
            <a:rect b="b" l="l" r="r" t="t"/>
            <a:pathLst>
              <a:path extrusionOk="0" h="352425" w="762000">
                <a:moveTo>
                  <a:pt x="0" y="0"/>
                </a:moveTo>
                <a:lnTo>
                  <a:pt x="762000" y="0"/>
                </a:lnTo>
                <a:lnTo>
                  <a:pt x="762000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90" l="0" r="0" t="-590"/>
            </a:stretch>
          </a:blipFill>
          <a:ln>
            <a:noFill/>
          </a:ln>
        </p:spPr>
      </p:sp>
      <p:sp>
        <p:nvSpPr>
          <p:cNvPr descr="Logo Observatorio Astronómico Nacional" id="272" name="Google Shape;272;h2ce3fe4848cf32bc_0_217"/>
          <p:cNvSpPr/>
          <p:nvPr/>
        </p:nvSpPr>
        <p:spPr>
          <a:xfrm>
            <a:off x="17145000" y="9715500"/>
            <a:ext cx="457200" cy="428625"/>
          </a:xfrm>
          <a:custGeom>
            <a:rect b="b" l="l" r="r" t="t"/>
            <a:pathLst>
              <a:path extrusionOk="0"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30" r="-33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h2ce3fe4848cf32bc_0_2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8" name="Google Shape;278;h2ce3fe4848cf32bc_0_232"/>
          <p:cNvPicPr preferRelativeResize="0"/>
          <p:nvPr/>
        </p:nvPicPr>
        <p:blipFill rotWithShape="1">
          <a:blip r:embed="rId3">
            <a:alphaModFix/>
          </a:blip>
          <a:srcRect b="92148" l="0" r="0" t="0"/>
          <a:stretch/>
        </p:blipFill>
        <p:spPr>
          <a:xfrm>
            <a:off x="2670925" y="84064"/>
            <a:ext cx="13491823" cy="794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h2ce3fe4848cf32bc_0_232"/>
          <p:cNvPicPr preferRelativeResize="0"/>
          <p:nvPr/>
        </p:nvPicPr>
        <p:blipFill rotWithShape="1">
          <a:blip r:embed="rId3">
            <a:alphaModFix/>
          </a:blip>
          <a:srcRect b="62240" l="0" r="44093" t="0"/>
          <a:stretch/>
        </p:blipFill>
        <p:spPr>
          <a:xfrm>
            <a:off x="2670925" y="84075"/>
            <a:ext cx="7542849" cy="382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h2ce3fe4848cf32bc_0_23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5" name="Google Shape;285;h2ce3fe4848cf32bc_0_238"/>
          <p:cNvPicPr preferRelativeResize="0"/>
          <p:nvPr/>
        </p:nvPicPr>
        <p:blipFill rotWithShape="1">
          <a:blip r:embed="rId3">
            <a:alphaModFix/>
          </a:blip>
          <a:srcRect b="92148" l="0" r="0" t="0"/>
          <a:stretch/>
        </p:blipFill>
        <p:spPr>
          <a:xfrm>
            <a:off x="2670925" y="84064"/>
            <a:ext cx="13491823" cy="794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h2ce3fe4848cf32bc_0_238"/>
          <p:cNvPicPr preferRelativeResize="0"/>
          <p:nvPr/>
        </p:nvPicPr>
        <p:blipFill rotWithShape="1">
          <a:blip r:embed="rId3">
            <a:alphaModFix/>
          </a:blip>
          <a:srcRect b="32814" l="0" r="44093" t="0"/>
          <a:stretch/>
        </p:blipFill>
        <p:spPr>
          <a:xfrm>
            <a:off x="2670925" y="84075"/>
            <a:ext cx="7542849" cy="679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h2ce3fe4848cf32bc_0_24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2" name="Google Shape;292;h2ce3fe4848cf32bc_0_244"/>
          <p:cNvPicPr preferRelativeResize="0"/>
          <p:nvPr/>
        </p:nvPicPr>
        <p:blipFill rotWithShape="1">
          <a:blip r:embed="rId3">
            <a:alphaModFix/>
          </a:blip>
          <a:srcRect b="92148" l="0" r="0" t="0"/>
          <a:stretch/>
        </p:blipFill>
        <p:spPr>
          <a:xfrm>
            <a:off x="2670925" y="84064"/>
            <a:ext cx="13491823" cy="794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h2ce3fe4848cf32bc_0_244"/>
          <p:cNvPicPr preferRelativeResize="0"/>
          <p:nvPr/>
        </p:nvPicPr>
        <p:blipFill rotWithShape="1">
          <a:blip r:embed="rId3">
            <a:alphaModFix/>
          </a:blip>
          <a:srcRect b="0" l="0" r="44093" t="0"/>
          <a:stretch/>
        </p:blipFill>
        <p:spPr>
          <a:xfrm>
            <a:off x="2670925" y="84075"/>
            <a:ext cx="7542849" cy="1011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h2ce3fe4848cf32bc_0_25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9" name="Google Shape;299;h2ce3fe4848cf32bc_0_250"/>
          <p:cNvPicPr preferRelativeResize="0"/>
          <p:nvPr/>
        </p:nvPicPr>
        <p:blipFill rotWithShape="1">
          <a:blip r:embed="rId3">
            <a:alphaModFix/>
          </a:blip>
          <a:srcRect b="92148" l="0" r="0" t="0"/>
          <a:stretch/>
        </p:blipFill>
        <p:spPr>
          <a:xfrm>
            <a:off x="2670925" y="84064"/>
            <a:ext cx="13491823" cy="794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h2ce3fe4848cf32bc_0_2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0925" y="84075"/>
            <a:ext cx="13491823" cy="1011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h2ce3fe4848cf32bc_0_1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0614086" cy="1013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h2ce3fe4848cf32bc_0_1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85018" y="3854975"/>
            <a:ext cx="7102975" cy="272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h2ce3fe4848cf32bc_0_352"/>
          <p:cNvSpPr txBox="1"/>
          <p:nvPr/>
        </p:nvSpPr>
        <p:spPr>
          <a:xfrm>
            <a:off x="7027500" y="4527750"/>
            <a:ext cx="4233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71D30"/>
                </a:solidFill>
                <a:latin typeface="Geo"/>
                <a:ea typeface="Geo"/>
                <a:cs typeface="Geo"/>
                <a:sym typeface="Geo"/>
              </a:rPr>
              <a:t>CODES :))))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h7605234e4dc15daa_0_0" title="fibrila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6225" y="2235400"/>
            <a:ext cx="13415551" cy="654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h2ce3fe4848cf32bc_0_338" title="fibrila_td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500" y="2148588"/>
            <a:ext cx="17338976" cy="598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h2ce3fe4848cf32bc_0_342" title="fibrila_cortes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250" y="841625"/>
            <a:ext cx="15773500" cy="860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h625cd870844adfaf_0_0" title="2_kink_fit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8135600" cy="5742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h161039d3f87a9e89_0_71" title="lagrida_latex_editor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13" y="192275"/>
            <a:ext cx="2505075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h161039d3f87a9e89_0_71" title="lagrida_latex_editor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063" y="1923225"/>
            <a:ext cx="1809750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h161039d3f87a9e89_0_75" title="lagrida_latex_editor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791325" cy="109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h161039d3f87a9e89_0_83" title="lagrida_latex_editor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73367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h161039d3f87a9e89_0_83" title="lagrida_latex_editor(7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988" y="1977800"/>
            <a:ext cx="2476500" cy="11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h161039d3f87a9e89_0_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5438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h161039d3f87a9e89_0_98" title="lagrida_latex_editor(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619625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9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71D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/>
          </a:p>
        </p:txBody>
      </p:sp>
      <p:grpSp>
        <p:nvGrpSpPr>
          <p:cNvPr id="384" name="Google Shape;384;p9"/>
          <p:cNvGrpSpPr/>
          <p:nvPr/>
        </p:nvGrpSpPr>
        <p:grpSpPr>
          <a:xfrm>
            <a:off x="666750" y="522089"/>
            <a:ext cx="16954500" cy="9098165"/>
            <a:chOff x="0" y="-38100"/>
            <a:chExt cx="4465383" cy="2396224"/>
          </a:xfrm>
        </p:grpSpPr>
        <p:sp>
          <p:nvSpPr>
            <p:cNvPr id="385" name="Google Shape;385;p9"/>
            <p:cNvSpPr/>
            <p:nvPr/>
          </p:nvSpPr>
          <p:spPr>
            <a:xfrm>
              <a:off x="0" y="0"/>
              <a:ext cx="4465383" cy="2358124"/>
            </a:xfrm>
            <a:custGeom>
              <a:rect b="b" l="l" r="r" t="t"/>
              <a:pathLst>
                <a:path extrusionOk="0"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5B8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9"/>
            <p:cNvSpPr txBox="1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387;p9"/>
          <p:cNvGrpSpPr/>
          <p:nvPr/>
        </p:nvGrpSpPr>
        <p:grpSpPr>
          <a:xfrm>
            <a:off x="1800225" y="1497806"/>
            <a:ext cx="12944475" cy="4071144"/>
            <a:chOff x="0" y="-85725"/>
            <a:chExt cx="17259300" cy="5428191"/>
          </a:xfrm>
        </p:grpSpPr>
        <p:sp>
          <p:nvSpPr>
            <p:cNvPr id="388" name="Google Shape;388;p9"/>
            <p:cNvSpPr txBox="1"/>
            <p:nvPr/>
          </p:nvSpPr>
          <p:spPr>
            <a:xfrm>
              <a:off x="0" y="-85725"/>
              <a:ext cx="17259300" cy="17028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0" u="none" cap="none" strike="noStrike">
                  <a:solidFill>
                    <a:srgbClr val="071D30"/>
                  </a:solidFill>
                  <a:latin typeface="Geo"/>
                  <a:ea typeface="Geo"/>
                  <a:cs typeface="Geo"/>
                  <a:sym typeface="Geo"/>
                </a:rPr>
                <a:t>Conclusiones</a:t>
              </a:r>
              <a:endParaRPr/>
            </a:p>
          </p:txBody>
        </p:sp>
        <p:sp>
          <p:nvSpPr>
            <p:cNvPr id="389" name="Google Shape;389;p9"/>
            <p:cNvSpPr txBox="1"/>
            <p:nvPr/>
          </p:nvSpPr>
          <p:spPr>
            <a:xfrm>
              <a:off x="0" y="2197212"/>
              <a:ext cx="17259300" cy="55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rgbClr val="071D3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LO QUE NOS LLEVAMOS HOY</a:t>
              </a:r>
              <a:endParaRPr/>
            </a:p>
          </p:txBody>
        </p:sp>
        <p:sp>
          <p:nvSpPr>
            <p:cNvPr id="390" name="Google Shape;390;p9"/>
            <p:cNvSpPr txBox="1"/>
            <p:nvPr/>
          </p:nvSpPr>
          <p:spPr>
            <a:xfrm>
              <a:off x="0" y="2992966"/>
              <a:ext cx="13512134" cy="234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71D3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1.  [Conclusión principal]</a:t>
              </a:r>
              <a:endParaRPr/>
            </a:p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71D3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2.  [Segunda idea importante]</a:t>
              </a:r>
              <a:endParaRPr/>
            </a:p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71D3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3.  [Cómo se conecta con lo que sigue]</a:t>
              </a:r>
              <a:endParaRPr/>
            </a:p>
          </p:txBody>
        </p:sp>
      </p:grpSp>
      <p:grpSp>
        <p:nvGrpSpPr>
          <p:cNvPr id="391" name="Google Shape;391;p9"/>
          <p:cNvGrpSpPr/>
          <p:nvPr/>
        </p:nvGrpSpPr>
        <p:grpSpPr>
          <a:xfrm>
            <a:off x="12668250" y="2352675"/>
            <a:ext cx="4000500" cy="4029075"/>
            <a:chOff x="0" y="-38100"/>
            <a:chExt cx="5334000" cy="5372100"/>
          </a:xfrm>
        </p:grpSpPr>
        <p:sp>
          <p:nvSpPr>
            <p:cNvPr id="392" name="Google Shape;392;p9"/>
            <p:cNvSpPr/>
            <p:nvPr/>
          </p:nvSpPr>
          <p:spPr>
            <a:xfrm>
              <a:off x="600075" y="600075"/>
              <a:ext cx="4133850" cy="4133850"/>
            </a:xfrm>
            <a:custGeom>
              <a:rect b="b" l="l" r="r" t="t"/>
              <a:pathLst>
                <a:path extrusionOk="0" h="4133850" w="4133850">
                  <a:moveTo>
                    <a:pt x="889000" y="2066925"/>
                  </a:moveTo>
                  <a:cubicBezTo>
                    <a:pt x="889000" y="2717475"/>
                    <a:pt x="1416375" y="3244850"/>
                    <a:pt x="2066925" y="3244850"/>
                  </a:cubicBezTo>
                  <a:cubicBezTo>
                    <a:pt x="2717475" y="3244850"/>
                    <a:pt x="3244850" y="2717475"/>
                    <a:pt x="3244850" y="2066925"/>
                  </a:cubicBezTo>
                  <a:cubicBezTo>
                    <a:pt x="3244850" y="1416375"/>
                    <a:pt x="2717475" y="889000"/>
                    <a:pt x="2066925" y="889000"/>
                  </a:cubicBezTo>
                  <a:cubicBezTo>
                    <a:pt x="1416375" y="889000"/>
                    <a:pt x="889000" y="1416375"/>
                    <a:pt x="889000" y="2066925"/>
                  </a:cubicBezTo>
                  <a:close/>
                  <a:moveTo>
                    <a:pt x="4027170" y="842328"/>
                  </a:moveTo>
                  <a:cubicBezTo>
                    <a:pt x="3889416" y="608311"/>
                    <a:pt x="3383864" y="627231"/>
                    <a:pt x="2702801" y="891892"/>
                  </a:cubicBezTo>
                  <a:cubicBezTo>
                    <a:pt x="2021737" y="1156553"/>
                    <a:pt x="1269834" y="1626280"/>
                    <a:pt x="733078" y="2122411"/>
                  </a:cubicBezTo>
                  <a:cubicBezTo>
                    <a:pt x="196322" y="2618542"/>
                    <a:pt x="-42793" y="3064827"/>
                    <a:pt x="106680" y="3291523"/>
                  </a:cubicBezTo>
                  <a:cubicBezTo>
                    <a:pt x="244433" y="3525539"/>
                    <a:pt x="749986" y="3506619"/>
                    <a:pt x="1431049" y="3241958"/>
                  </a:cubicBezTo>
                  <a:cubicBezTo>
                    <a:pt x="2112113" y="2977297"/>
                    <a:pt x="2864016" y="2507571"/>
                    <a:pt x="3400772" y="2011439"/>
                  </a:cubicBezTo>
                  <a:cubicBezTo>
                    <a:pt x="3937528" y="1515308"/>
                    <a:pt x="4176643" y="1069023"/>
                    <a:pt x="4027170" y="842328"/>
                  </a:cubicBezTo>
                  <a:close/>
                  <a:moveTo>
                    <a:pt x="2066925" y="355600"/>
                  </a:moveTo>
                  <a:lnTo>
                    <a:pt x="2066925" y="0"/>
                  </a:lnTo>
                  <a:moveTo>
                    <a:pt x="2066925" y="4133850"/>
                  </a:moveTo>
                  <a:lnTo>
                    <a:pt x="2066925" y="3778250"/>
                  </a:lnTo>
                  <a:moveTo>
                    <a:pt x="355600" y="2066925"/>
                  </a:moveTo>
                  <a:lnTo>
                    <a:pt x="0" y="2066925"/>
                  </a:lnTo>
                  <a:moveTo>
                    <a:pt x="4133850" y="2066925"/>
                  </a:moveTo>
                  <a:lnTo>
                    <a:pt x="3778250" y="2066925"/>
                  </a:lnTo>
                  <a:moveTo>
                    <a:pt x="866775" y="866775"/>
                  </a:moveTo>
                  <a:lnTo>
                    <a:pt x="622300" y="622300"/>
                  </a:lnTo>
                  <a:moveTo>
                    <a:pt x="3267075" y="3267075"/>
                  </a:moveTo>
                  <a:lnTo>
                    <a:pt x="3511550" y="3511550"/>
                  </a:lnTo>
                  <a:moveTo>
                    <a:pt x="977900" y="2222500"/>
                  </a:moveTo>
                  <a:lnTo>
                    <a:pt x="1466850" y="2222500"/>
                  </a:lnTo>
                  <a:lnTo>
                    <a:pt x="1711325" y="1711325"/>
                  </a:lnTo>
                  <a:lnTo>
                    <a:pt x="2089150" y="2600325"/>
                  </a:lnTo>
                  <a:lnTo>
                    <a:pt x="2422525" y="1933575"/>
                  </a:lnTo>
                  <a:lnTo>
                    <a:pt x="2644775" y="2222500"/>
                  </a:lnTo>
                  <a:lnTo>
                    <a:pt x="3178175" y="2222500"/>
                  </a:lnTo>
                </a:path>
              </a:pathLst>
            </a:custGeom>
            <a:noFill/>
            <a:ln cap="sq" cmpd="sng" w="66675">
              <a:solidFill>
                <a:srgbClr val="071D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9"/>
            <p:cNvSpPr txBox="1"/>
            <p:nvPr/>
          </p:nvSpPr>
          <p:spPr>
            <a:xfrm>
              <a:off x="0" y="-38100"/>
              <a:ext cx="5334000" cy="537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4" name="Google Shape;394;p9"/>
          <p:cNvGrpSpPr/>
          <p:nvPr/>
        </p:nvGrpSpPr>
        <p:grpSpPr>
          <a:xfrm>
            <a:off x="12668250" y="2352675"/>
            <a:ext cx="4000500" cy="4029075"/>
            <a:chOff x="0" y="-38100"/>
            <a:chExt cx="5334000" cy="5372100"/>
          </a:xfrm>
        </p:grpSpPr>
        <p:sp>
          <p:nvSpPr>
            <p:cNvPr id="395" name="Google Shape;395;p9"/>
            <p:cNvSpPr/>
            <p:nvPr/>
          </p:nvSpPr>
          <p:spPr>
            <a:xfrm>
              <a:off x="3822700" y="688975"/>
              <a:ext cx="711200" cy="711200"/>
            </a:xfrm>
            <a:custGeom>
              <a:rect b="b" l="l" r="r" t="t"/>
              <a:pathLst>
                <a:path extrusionOk="0" h="711200" w="711200">
                  <a:moveTo>
                    <a:pt x="355600" y="0"/>
                  </a:moveTo>
                  <a:lnTo>
                    <a:pt x="444500" y="266700"/>
                  </a:lnTo>
                  <a:lnTo>
                    <a:pt x="711200" y="355600"/>
                  </a:lnTo>
                  <a:lnTo>
                    <a:pt x="444500" y="444500"/>
                  </a:lnTo>
                  <a:lnTo>
                    <a:pt x="355600" y="711200"/>
                  </a:lnTo>
                  <a:lnTo>
                    <a:pt x="266700" y="444500"/>
                  </a:lnTo>
                  <a:lnTo>
                    <a:pt x="0" y="355600"/>
                  </a:lnTo>
                  <a:lnTo>
                    <a:pt x="266700" y="2667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96" name="Google Shape;396;p9"/>
            <p:cNvSpPr txBox="1"/>
            <p:nvPr/>
          </p:nvSpPr>
          <p:spPr>
            <a:xfrm>
              <a:off x="0" y="-38100"/>
              <a:ext cx="5334000" cy="537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7" name="Google Shape;397;p9"/>
          <p:cNvGrpSpPr/>
          <p:nvPr/>
        </p:nvGrpSpPr>
        <p:grpSpPr>
          <a:xfrm>
            <a:off x="1800225" y="7781925"/>
            <a:ext cx="14668500" cy="1076325"/>
            <a:chOff x="0" y="-38100"/>
            <a:chExt cx="19558000" cy="1435100"/>
          </a:xfrm>
        </p:grpSpPr>
        <p:sp>
          <p:nvSpPr>
            <p:cNvPr id="398" name="Google Shape;398;p9"/>
            <p:cNvSpPr/>
            <p:nvPr/>
          </p:nvSpPr>
          <p:spPr>
            <a:xfrm>
              <a:off x="0" y="0"/>
              <a:ext cx="19558000" cy="1397000"/>
            </a:xfrm>
            <a:custGeom>
              <a:rect b="b" l="l" r="r" t="t"/>
              <a:pathLst>
                <a:path extrusionOk="0" h="1397000" w="19558000">
                  <a:moveTo>
                    <a:pt x="228600" y="0"/>
                  </a:moveTo>
                  <a:lnTo>
                    <a:pt x="19329400" y="0"/>
                  </a:lnTo>
                  <a:cubicBezTo>
                    <a:pt x="19455653" y="0"/>
                    <a:pt x="19558000" y="102348"/>
                    <a:pt x="19558000" y="228600"/>
                  </a:cubicBezTo>
                  <a:lnTo>
                    <a:pt x="19558000" y="1168400"/>
                  </a:lnTo>
                  <a:cubicBezTo>
                    <a:pt x="19558000" y="1294652"/>
                    <a:pt x="19455653" y="1397000"/>
                    <a:pt x="19329400" y="1397000"/>
                  </a:cubicBezTo>
                  <a:lnTo>
                    <a:pt x="228600" y="1397000"/>
                  </a:lnTo>
                  <a:cubicBezTo>
                    <a:pt x="102348" y="1397000"/>
                    <a:pt x="0" y="1294652"/>
                    <a:pt x="0" y="1168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071D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9"/>
            <p:cNvSpPr txBox="1"/>
            <p:nvPr/>
          </p:nvSpPr>
          <p:spPr>
            <a:xfrm>
              <a:off x="0" y="-38100"/>
              <a:ext cx="19558000" cy="14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0" name="Google Shape;400;p9"/>
          <p:cNvSpPr txBox="1"/>
          <p:nvPr/>
        </p:nvSpPr>
        <p:spPr>
          <a:xfrm>
            <a:off x="2190750" y="8086725"/>
            <a:ext cx="14097000" cy="415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5B82E"/>
                </a:solidFill>
                <a:latin typeface="Arimo"/>
                <a:ea typeface="Arimo"/>
                <a:cs typeface="Arimo"/>
                <a:sym typeface="Arimo"/>
              </a:rPr>
              <a:t>PRÓXIMA SESIÓN  ›  [tema, tarea o lectura recomendada]</a:t>
            </a:r>
            <a:endParaRPr/>
          </a:p>
        </p:txBody>
      </p:sp>
      <p:sp>
        <p:nvSpPr>
          <p:cNvPr id="401" name="Google Shape;401;p9"/>
          <p:cNvSpPr txBox="1"/>
          <p:nvPr/>
        </p:nvSpPr>
        <p:spPr>
          <a:xfrm>
            <a:off x="666750" y="9772650"/>
            <a:ext cx="9525000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53697A"/>
                </a:solidFill>
                <a:latin typeface="Arimo"/>
                <a:ea typeface="Arimo"/>
                <a:cs typeface="Arimo"/>
                <a:sym typeface="Arimo"/>
              </a:rPr>
              <a:t>HELIODATA ACADEMY 2026  ·  ESCUELA DE ASTROFÍSICA SOLAR</a:t>
            </a:r>
            <a:endParaRPr/>
          </a:p>
        </p:txBody>
      </p:sp>
      <p:sp>
        <p:nvSpPr>
          <p:cNvPr descr="Logo GoSA" id="402" name="Google Shape;402;p9"/>
          <p:cNvSpPr/>
          <p:nvPr/>
        </p:nvSpPr>
        <p:spPr>
          <a:xfrm>
            <a:off x="16192500" y="9753600"/>
            <a:ext cx="762000" cy="352425"/>
          </a:xfrm>
          <a:custGeom>
            <a:rect b="b" l="l" r="r" t="t"/>
            <a:pathLst>
              <a:path extrusionOk="0" h="352425" w="762000">
                <a:moveTo>
                  <a:pt x="0" y="0"/>
                </a:moveTo>
                <a:lnTo>
                  <a:pt x="762000" y="0"/>
                </a:lnTo>
                <a:lnTo>
                  <a:pt x="762000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92" l="0" r="0" t="-592"/>
            </a:stretch>
          </a:blipFill>
          <a:ln>
            <a:noFill/>
          </a:ln>
        </p:spPr>
      </p:sp>
      <p:sp>
        <p:nvSpPr>
          <p:cNvPr descr="Logo Observatorio Astronómico Nacional" id="403" name="Google Shape;403;p9"/>
          <p:cNvSpPr/>
          <p:nvPr/>
        </p:nvSpPr>
        <p:spPr>
          <a:xfrm>
            <a:off x="17145000" y="9715500"/>
            <a:ext cx="457200" cy="428625"/>
          </a:xfrm>
          <a:custGeom>
            <a:rect b="b" l="l" r="r" t="t"/>
            <a:pathLst>
              <a:path extrusionOk="0" h="428625" w="457200">
                <a:moveTo>
                  <a:pt x="0" y="0"/>
                </a:moveTo>
                <a:lnTo>
                  <a:pt x="457200" y="0"/>
                </a:lnTo>
                <a:lnTo>
                  <a:pt x="4572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28" r="-328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D30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0"/>
          <p:cNvSpPr/>
          <p:nvPr/>
        </p:nvSpPr>
        <p:spPr>
          <a:xfrm>
            <a:off x="0" y="0"/>
            <a:ext cx="7858125" cy="10287000"/>
          </a:xfrm>
          <a:custGeom>
            <a:rect b="b" l="l" r="r" t="t"/>
            <a:pathLst>
              <a:path extrusionOk="0" h="1350966" w="1031988">
                <a:moveTo>
                  <a:pt x="0" y="0"/>
                </a:moveTo>
                <a:lnTo>
                  <a:pt x="1031988" y="0"/>
                </a:lnTo>
                <a:lnTo>
                  <a:pt x="1031988" y="1350966"/>
                </a:lnTo>
                <a:lnTo>
                  <a:pt x="0" y="1350966"/>
                </a:lnTo>
                <a:close/>
              </a:path>
            </a:pathLst>
          </a:custGeom>
          <a:solidFill>
            <a:srgbClr val="F5B82E"/>
          </a:solidFill>
          <a:ln>
            <a:noFill/>
          </a:ln>
        </p:spPr>
      </p:sp>
      <p:sp>
        <p:nvSpPr>
          <p:cNvPr id="409" name="Google Shape;409;p10"/>
          <p:cNvSpPr/>
          <p:nvPr/>
        </p:nvSpPr>
        <p:spPr>
          <a:xfrm>
            <a:off x="1052512" y="666750"/>
            <a:ext cx="5753100" cy="8953500"/>
          </a:xfrm>
          <a:custGeom>
            <a:rect b="b" l="l" r="r" t="t"/>
            <a:pathLst>
              <a:path extrusionOk="0" h="1267949" w="814724">
                <a:moveTo>
                  <a:pt x="26914" y="0"/>
                </a:moveTo>
                <a:lnTo>
                  <a:pt x="787810" y="0"/>
                </a:lnTo>
                <a:cubicBezTo>
                  <a:pt x="802675" y="0"/>
                  <a:pt x="814724" y="12050"/>
                  <a:pt x="814724" y="26914"/>
                </a:cubicBezTo>
                <a:lnTo>
                  <a:pt x="814724" y="1241035"/>
                </a:lnTo>
                <a:cubicBezTo>
                  <a:pt x="814724" y="1255899"/>
                  <a:pt x="802675" y="1267949"/>
                  <a:pt x="787810" y="1267949"/>
                </a:cubicBezTo>
                <a:lnTo>
                  <a:pt x="26914" y="1267949"/>
                </a:lnTo>
                <a:cubicBezTo>
                  <a:pt x="12050" y="1267949"/>
                  <a:pt x="0" y="1255899"/>
                  <a:pt x="0" y="1241035"/>
                </a:cubicBezTo>
                <a:lnTo>
                  <a:pt x="0" y="26914"/>
                </a:lnTo>
                <a:cubicBezTo>
                  <a:pt x="0" y="12050"/>
                  <a:pt x="12050" y="0"/>
                  <a:pt x="26914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99" l="0" r="0" t="-199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0"/>
          <p:cNvSpPr txBox="1"/>
          <p:nvPr/>
        </p:nvSpPr>
        <p:spPr>
          <a:xfrm>
            <a:off x="9315450" y="2914650"/>
            <a:ext cx="8325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Questions</a:t>
            </a:r>
            <a:r>
              <a:rPr b="0" i="0" lang="en-US" sz="3800" u="none" cap="none" strike="noStrike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endParaRPr/>
          </a:p>
        </p:txBody>
      </p:sp>
      <p:sp>
        <p:nvSpPr>
          <p:cNvPr id="411" name="Google Shape;411;p10"/>
          <p:cNvSpPr txBox="1"/>
          <p:nvPr/>
        </p:nvSpPr>
        <p:spPr>
          <a:xfrm>
            <a:off x="9303759" y="942975"/>
            <a:ext cx="8317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5B82E"/>
                </a:solidFill>
                <a:latin typeface="Geo"/>
                <a:ea typeface="Geo"/>
                <a:cs typeface="Geo"/>
                <a:sym typeface="Geo"/>
              </a:rPr>
              <a:t>¡</a:t>
            </a:r>
            <a:r>
              <a:rPr lang="en-US" sz="5000">
                <a:solidFill>
                  <a:srgbClr val="F5B82E"/>
                </a:solidFill>
                <a:latin typeface="Geo"/>
                <a:ea typeface="Geo"/>
                <a:cs typeface="Geo"/>
                <a:sym typeface="Geo"/>
              </a:rPr>
              <a:t>Thanks a lot</a:t>
            </a:r>
            <a:r>
              <a:rPr b="0" i="0" lang="en-US" sz="5000" u="none" cap="none" strike="noStrike">
                <a:solidFill>
                  <a:srgbClr val="F5B82E"/>
                </a:solidFill>
                <a:latin typeface="Geo"/>
                <a:ea typeface="Geo"/>
                <a:cs typeface="Geo"/>
                <a:sym typeface="Geo"/>
              </a:rPr>
              <a:t>!</a:t>
            </a:r>
            <a:endParaRPr sz="5000"/>
          </a:p>
        </p:txBody>
      </p:sp>
      <p:sp>
        <p:nvSpPr>
          <p:cNvPr id="412" name="Google Shape;412;p10"/>
          <p:cNvSpPr txBox="1"/>
          <p:nvPr/>
        </p:nvSpPr>
        <p:spPr>
          <a:xfrm>
            <a:off x="9315450" y="3943350"/>
            <a:ext cx="80964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Óscar Calvo</a:t>
            </a:r>
            <a:endParaRPr/>
          </a:p>
          <a:p>
            <a:pPr indent="0" lvl="0" marL="0" marR="0" rtl="0" algn="l">
              <a:lnSpc>
                <a:spcPct val="13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ocalvo</a:t>
            </a:r>
            <a:r>
              <a:rPr b="0" i="0" lang="en-US" sz="25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@unal.edu.co]</a:t>
            </a:r>
            <a:endParaRPr/>
          </a:p>
        </p:txBody>
      </p:sp>
      <p:grpSp>
        <p:nvGrpSpPr>
          <p:cNvPr id="413" name="Google Shape;413;p10"/>
          <p:cNvGrpSpPr/>
          <p:nvPr/>
        </p:nvGrpSpPr>
        <p:grpSpPr>
          <a:xfrm>
            <a:off x="9315450" y="5305425"/>
            <a:ext cx="1428750" cy="85725"/>
            <a:chOff x="0" y="-38100"/>
            <a:chExt cx="1905000" cy="114300"/>
          </a:xfrm>
        </p:grpSpPr>
        <p:sp>
          <p:nvSpPr>
            <p:cNvPr id="414" name="Google Shape;414;p10"/>
            <p:cNvSpPr/>
            <p:nvPr/>
          </p:nvSpPr>
          <p:spPr>
            <a:xfrm>
              <a:off x="0" y="0"/>
              <a:ext cx="1905000" cy="76200"/>
            </a:xfrm>
            <a:custGeom>
              <a:rect b="b" l="l" r="r" t="t"/>
              <a:pathLst>
                <a:path extrusionOk="0" h="762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B82E"/>
            </a:solidFill>
            <a:ln>
              <a:noFill/>
            </a:ln>
          </p:spPr>
        </p:sp>
        <p:sp>
          <p:nvSpPr>
            <p:cNvPr id="415" name="Google Shape;415;p10"/>
            <p:cNvSpPr txBox="1"/>
            <p:nvPr/>
          </p:nvSpPr>
          <p:spPr>
            <a:xfrm>
              <a:off x="0" y="-38100"/>
              <a:ext cx="1905000" cy="1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6" name="Google Shape;416;p10"/>
          <p:cNvGrpSpPr/>
          <p:nvPr/>
        </p:nvGrpSpPr>
        <p:grpSpPr>
          <a:xfrm>
            <a:off x="9315450" y="5686425"/>
            <a:ext cx="2000250" cy="2028825"/>
            <a:chOff x="0" y="-38100"/>
            <a:chExt cx="2667000" cy="2705100"/>
          </a:xfrm>
        </p:grpSpPr>
        <p:sp>
          <p:nvSpPr>
            <p:cNvPr id="417" name="Google Shape;417;p10"/>
            <p:cNvSpPr/>
            <p:nvPr/>
          </p:nvSpPr>
          <p:spPr>
            <a:xfrm>
              <a:off x="0" y="0"/>
              <a:ext cx="2667000" cy="2667000"/>
            </a:xfrm>
            <a:custGeom>
              <a:rect b="b" l="l" r="r" t="t"/>
              <a:pathLst>
                <a:path extrusionOk="0" h="2667000" w="2667000">
                  <a:moveTo>
                    <a:pt x="177800" y="0"/>
                  </a:moveTo>
                  <a:lnTo>
                    <a:pt x="2489200" y="0"/>
                  </a:lnTo>
                  <a:cubicBezTo>
                    <a:pt x="2587396" y="0"/>
                    <a:pt x="2667000" y="79604"/>
                    <a:pt x="2667000" y="177800"/>
                  </a:cubicBezTo>
                  <a:lnTo>
                    <a:pt x="2667000" y="2489200"/>
                  </a:lnTo>
                  <a:cubicBezTo>
                    <a:pt x="2667000" y="2587396"/>
                    <a:pt x="2587396" y="2667000"/>
                    <a:pt x="2489200" y="2667000"/>
                  </a:cubicBezTo>
                  <a:lnTo>
                    <a:pt x="177800" y="2667000"/>
                  </a:lnTo>
                  <a:cubicBezTo>
                    <a:pt x="79604" y="2667000"/>
                    <a:pt x="0" y="2587396"/>
                    <a:pt x="0" y="2489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0"/>
            <p:cNvSpPr txBox="1"/>
            <p:nvPr/>
          </p:nvSpPr>
          <p:spPr>
            <a:xfrm>
              <a:off x="0" y="-38100"/>
              <a:ext cx="2667000" cy="27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Código QR de registro a la escuela" id="419" name="Google Shape;419;p10"/>
          <p:cNvSpPr/>
          <p:nvPr/>
        </p:nvSpPr>
        <p:spPr>
          <a:xfrm>
            <a:off x="9410700" y="5810250"/>
            <a:ext cx="1809750" cy="1809750"/>
          </a:xfrm>
          <a:custGeom>
            <a:rect b="b" l="l" r="r" t="t"/>
            <a:pathLst>
              <a:path extrusionOk="0" h="1809750" w="1809750">
                <a:moveTo>
                  <a:pt x="0" y="0"/>
                </a:moveTo>
                <a:lnTo>
                  <a:pt x="1809750" y="0"/>
                </a:lnTo>
                <a:lnTo>
                  <a:pt x="1809750" y="1809750"/>
                </a:lnTo>
                <a:lnTo>
                  <a:pt x="0" y="1809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0" name="Google Shape;420;p10"/>
          <p:cNvSpPr txBox="1"/>
          <p:nvPr/>
        </p:nvSpPr>
        <p:spPr>
          <a:xfrm>
            <a:off x="11668125" y="5772150"/>
            <a:ext cx="6096000" cy="1760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Registro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tiny.cc/escuelasolar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F5F7FA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Más información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astronomiaoan.co/gosa/escuela.html</a:t>
            </a:r>
            <a:endParaRPr/>
          </a:p>
        </p:txBody>
      </p:sp>
      <p:grpSp>
        <p:nvGrpSpPr>
          <p:cNvPr id="421" name="Google Shape;421;p10"/>
          <p:cNvGrpSpPr/>
          <p:nvPr/>
        </p:nvGrpSpPr>
        <p:grpSpPr>
          <a:xfrm>
            <a:off x="9315450" y="8353425"/>
            <a:ext cx="2857500" cy="981075"/>
            <a:chOff x="0" y="-38100"/>
            <a:chExt cx="3810000" cy="1308100"/>
          </a:xfrm>
        </p:grpSpPr>
        <p:sp>
          <p:nvSpPr>
            <p:cNvPr id="422" name="Google Shape;422;p10"/>
            <p:cNvSpPr/>
            <p:nvPr/>
          </p:nvSpPr>
          <p:spPr>
            <a:xfrm>
              <a:off x="0" y="0"/>
              <a:ext cx="3810000" cy="1270000"/>
            </a:xfrm>
            <a:custGeom>
              <a:rect b="b" l="l" r="r" t="t"/>
              <a:pathLst>
                <a:path extrusionOk="0" h="1270000" w="3810000">
                  <a:moveTo>
                    <a:pt x="203200" y="0"/>
                  </a:moveTo>
                  <a:lnTo>
                    <a:pt x="3606800" y="0"/>
                  </a:lnTo>
                  <a:cubicBezTo>
                    <a:pt x="3719024" y="0"/>
                    <a:pt x="3810000" y="90976"/>
                    <a:pt x="3810000" y="203200"/>
                  </a:cubicBezTo>
                  <a:lnTo>
                    <a:pt x="3810000" y="1066800"/>
                  </a:lnTo>
                  <a:cubicBezTo>
                    <a:pt x="3810000" y="1179024"/>
                    <a:pt x="3719024" y="1270000"/>
                    <a:pt x="3606800" y="1270000"/>
                  </a:cubicBezTo>
                  <a:lnTo>
                    <a:pt x="203200" y="1270000"/>
                  </a:lnTo>
                  <a:cubicBezTo>
                    <a:pt x="90976" y="1270000"/>
                    <a:pt x="0" y="1179024"/>
                    <a:pt x="0" y="1066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0"/>
            <p:cNvSpPr txBox="1"/>
            <p:nvPr/>
          </p:nvSpPr>
          <p:spPr>
            <a:xfrm>
              <a:off x="0" y="-38100"/>
              <a:ext cx="3810000" cy="1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Logo GoSA" id="424" name="Google Shape;424;p10"/>
          <p:cNvSpPr/>
          <p:nvPr/>
        </p:nvSpPr>
        <p:spPr>
          <a:xfrm>
            <a:off x="9458325" y="8496300"/>
            <a:ext cx="1524000" cy="714375"/>
          </a:xfrm>
          <a:custGeom>
            <a:rect b="b" l="l" r="r" t="t"/>
            <a:pathLst>
              <a:path extrusionOk="0" h="714375" w="1524000">
                <a:moveTo>
                  <a:pt x="0" y="0"/>
                </a:moveTo>
                <a:lnTo>
                  <a:pt x="1524000" y="0"/>
                </a:lnTo>
                <a:lnTo>
                  <a:pt x="1524000" y="714375"/>
                </a:lnTo>
                <a:lnTo>
                  <a:pt x="0" y="7143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82" r="-82" t="0"/>
            </a:stretch>
          </a:blipFill>
          <a:ln>
            <a:noFill/>
          </a:ln>
        </p:spPr>
      </p:sp>
      <p:sp>
        <p:nvSpPr>
          <p:cNvPr descr="Logo Observatorio Astronómico Nacional" id="425" name="Google Shape;425;p10"/>
          <p:cNvSpPr/>
          <p:nvPr/>
        </p:nvSpPr>
        <p:spPr>
          <a:xfrm>
            <a:off x="11163300" y="8477250"/>
            <a:ext cx="819150" cy="762000"/>
          </a:xfrm>
          <a:custGeom>
            <a:rect b="b" l="l" r="r" t="t"/>
            <a:pathLst>
              <a:path extrusionOk="0" h="762000" w="819150">
                <a:moveTo>
                  <a:pt x="0" y="0"/>
                </a:moveTo>
                <a:lnTo>
                  <a:pt x="819150" y="0"/>
                </a:lnTo>
                <a:lnTo>
                  <a:pt x="8191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61" l="0" r="0" t="-61"/>
            </a:stretch>
          </a:blipFill>
          <a:ln>
            <a:noFill/>
          </a:ln>
        </p:spPr>
      </p:sp>
      <p:sp>
        <p:nvSpPr>
          <p:cNvPr id="426" name="Google Shape;426;p10"/>
          <p:cNvSpPr txBox="1"/>
          <p:nvPr/>
        </p:nvSpPr>
        <p:spPr>
          <a:xfrm>
            <a:off x="12430125" y="8515350"/>
            <a:ext cx="5334000" cy="587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9FB3C8"/>
                </a:solidFill>
                <a:latin typeface="Arimo"/>
                <a:ea typeface="Arimo"/>
                <a:cs typeface="Arimo"/>
                <a:sym typeface="Arimo"/>
              </a:rPr>
              <a:t>Organiza: Group of Solar Astrophysics GoSA</a:t>
            </a:r>
            <a:endParaRPr/>
          </a:p>
          <a:p>
            <a:pPr indent="0" lvl="0" marL="0" marR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9FB3C8"/>
                </a:solidFill>
                <a:latin typeface="Arimo"/>
                <a:ea typeface="Arimo"/>
                <a:cs typeface="Arimo"/>
                <a:sym typeface="Arimo"/>
              </a:rPr>
              <a:t>Observatorio Astronómico Nacional · UNAL Bogotá</a:t>
            </a:r>
            <a:endParaRPr/>
          </a:p>
        </p:txBody>
      </p:sp>
      <p:grpSp>
        <p:nvGrpSpPr>
          <p:cNvPr id="427" name="Google Shape;427;p10"/>
          <p:cNvGrpSpPr/>
          <p:nvPr/>
        </p:nvGrpSpPr>
        <p:grpSpPr>
          <a:xfrm>
            <a:off x="16287750" y="638175"/>
            <a:ext cx="1333500" cy="1362075"/>
            <a:chOff x="0" y="-38100"/>
            <a:chExt cx="1778000" cy="1816100"/>
          </a:xfrm>
        </p:grpSpPr>
        <p:sp>
          <p:nvSpPr>
            <p:cNvPr id="428" name="Google Shape;428;p10"/>
            <p:cNvSpPr/>
            <p:nvPr/>
          </p:nvSpPr>
          <p:spPr>
            <a:xfrm>
              <a:off x="200025" y="200025"/>
              <a:ext cx="1377950" cy="1377950"/>
            </a:xfrm>
            <a:custGeom>
              <a:rect b="b" l="l" r="r" t="t"/>
              <a:pathLst>
                <a:path extrusionOk="0" h="1377950" w="1377950">
                  <a:moveTo>
                    <a:pt x="296333" y="688975"/>
                  </a:moveTo>
                  <a:cubicBezTo>
                    <a:pt x="296333" y="905825"/>
                    <a:pt x="472125" y="1081617"/>
                    <a:pt x="688975" y="1081617"/>
                  </a:cubicBezTo>
                  <a:cubicBezTo>
                    <a:pt x="905825" y="1081617"/>
                    <a:pt x="1081617" y="905825"/>
                    <a:pt x="1081617" y="688975"/>
                  </a:cubicBezTo>
                  <a:cubicBezTo>
                    <a:pt x="1081617" y="472125"/>
                    <a:pt x="905825" y="296333"/>
                    <a:pt x="688975" y="296333"/>
                  </a:cubicBezTo>
                  <a:cubicBezTo>
                    <a:pt x="472125" y="296333"/>
                    <a:pt x="296333" y="472125"/>
                    <a:pt x="296333" y="688975"/>
                  </a:cubicBezTo>
                  <a:close/>
                  <a:moveTo>
                    <a:pt x="1342390" y="280776"/>
                  </a:moveTo>
                  <a:cubicBezTo>
                    <a:pt x="1296472" y="202770"/>
                    <a:pt x="1127955" y="209077"/>
                    <a:pt x="900934" y="297297"/>
                  </a:cubicBezTo>
                  <a:cubicBezTo>
                    <a:pt x="673912" y="385518"/>
                    <a:pt x="423278" y="542093"/>
                    <a:pt x="244359" y="707470"/>
                  </a:cubicBezTo>
                  <a:cubicBezTo>
                    <a:pt x="65441" y="872847"/>
                    <a:pt x="-14264" y="1021609"/>
                    <a:pt x="35560" y="1097174"/>
                  </a:cubicBezTo>
                  <a:cubicBezTo>
                    <a:pt x="81478" y="1175180"/>
                    <a:pt x="249995" y="1168873"/>
                    <a:pt x="477016" y="1080653"/>
                  </a:cubicBezTo>
                  <a:cubicBezTo>
                    <a:pt x="704038" y="992432"/>
                    <a:pt x="954672" y="835857"/>
                    <a:pt x="1133591" y="670480"/>
                  </a:cubicBezTo>
                  <a:cubicBezTo>
                    <a:pt x="1312509" y="505103"/>
                    <a:pt x="1392214" y="356341"/>
                    <a:pt x="1342390" y="280776"/>
                  </a:cubicBezTo>
                  <a:close/>
                  <a:moveTo>
                    <a:pt x="688975" y="118533"/>
                  </a:moveTo>
                  <a:lnTo>
                    <a:pt x="688975" y="0"/>
                  </a:lnTo>
                  <a:moveTo>
                    <a:pt x="688975" y="1377950"/>
                  </a:moveTo>
                  <a:lnTo>
                    <a:pt x="688975" y="1259417"/>
                  </a:lnTo>
                  <a:moveTo>
                    <a:pt x="118533" y="688975"/>
                  </a:moveTo>
                  <a:lnTo>
                    <a:pt x="0" y="688975"/>
                  </a:lnTo>
                  <a:moveTo>
                    <a:pt x="1377950" y="688975"/>
                  </a:moveTo>
                  <a:lnTo>
                    <a:pt x="1259417" y="688975"/>
                  </a:lnTo>
                  <a:moveTo>
                    <a:pt x="288925" y="288925"/>
                  </a:moveTo>
                  <a:lnTo>
                    <a:pt x="207433" y="207433"/>
                  </a:lnTo>
                  <a:moveTo>
                    <a:pt x="1089025" y="1089025"/>
                  </a:moveTo>
                  <a:lnTo>
                    <a:pt x="1170517" y="1170517"/>
                  </a:lnTo>
                  <a:moveTo>
                    <a:pt x="325967" y="740833"/>
                  </a:moveTo>
                  <a:lnTo>
                    <a:pt x="488950" y="740833"/>
                  </a:lnTo>
                  <a:lnTo>
                    <a:pt x="570442" y="570442"/>
                  </a:lnTo>
                  <a:lnTo>
                    <a:pt x="696383" y="866775"/>
                  </a:lnTo>
                  <a:lnTo>
                    <a:pt x="807508" y="644525"/>
                  </a:lnTo>
                  <a:lnTo>
                    <a:pt x="881592" y="740833"/>
                  </a:lnTo>
                  <a:lnTo>
                    <a:pt x="1059392" y="740833"/>
                  </a:lnTo>
                </a:path>
              </a:pathLst>
            </a:custGeom>
            <a:noFill/>
            <a:ln cap="sq" cmpd="sng" w="38100">
              <a:solidFill>
                <a:srgbClr val="F5B82E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0"/>
            <p:cNvSpPr txBox="1"/>
            <p:nvPr/>
          </p:nvSpPr>
          <p:spPr>
            <a:xfrm>
              <a:off x="0" y="-38100"/>
              <a:ext cx="1778000" cy="181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0" name="Google Shape;430;p10"/>
          <p:cNvGrpSpPr/>
          <p:nvPr/>
        </p:nvGrpSpPr>
        <p:grpSpPr>
          <a:xfrm>
            <a:off x="16287750" y="638175"/>
            <a:ext cx="1333500" cy="1362075"/>
            <a:chOff x="0" y="-38100"/>
            <a:chExt cx="1778000" cy="1816100"/>
          </a:xfrm>
        </p:grpSpPr>
        <p:sp>
          <p:nvSpPr>
            <p:cNvPr id="431" name="Google Shape;431;p10"/>
            <p:cNvSpPr/>
            <p:nvPr/>
          </p:nvSpPr>
          <p:spPr>
            <a:xfrm>
              <a:off x="1274233" y="229658"/>
              <a:ext cx="237067" cy="237067"/>
            </a:xfrm>
            <a:custGeom>
              <a:rect b="b" l="l" r="r" t="t"/>
              <a:pathLst>
                <a:path extrusionOk="0" h="237067" w="237067">
                  <a:moveTo>
                    <a:pt x="118534" y="0"/>
                  </a:moveTo>
                  <a:lnTo>
                    <a:pt x="148167" y="88900"/>
                  </a:lnTo>
                  <a:lnTo>
                    <a:pt x="237067" y="118534"/>
                  </a:lnTo>
                  <a:lnTo>
                    <a:pt x="148167" y="148167"/>
                  </a:lnTo>
                  <a:lnTo>
                    <a:pt x="118534" y="237067"/>
                  </a:lnTo>
                  <a:lnTo>
                    <a:pt x="88900" y="148167"/>
                  </a:lnTo>
                  <a:lnTo>
                    <a:pt x="0" y="118534"/>
                  </a:lnTo>
                  <a:lnTo>
                    <a:pt x="88900" y="889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32" name="Google Shape;432;p10"/>
            <p:cNvSpPr txBox="1"/>
            <p:nvPr/>
          </p:nvSpPr>
          <p:spPr>
            <a:xfrm>
              <a:off x="0" y="-38100"/>
              <a:ext cx="1778000" cy="181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